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1"/>
  </p:notesMasterIdLst>
  <p:sldIdLst>
    <p:sldId id="256" r:id="rId2"/>
    <p:sldId id="264" r:id="rId3"/>
    <p:sldId id="257" r:id="rId4"/>
    <p:sldId id="289" r:id="rId5"/>
    <p:sldId id="259" r:id="rId6"/>
    <p:sldId id="260" r:id="rId7"/>
    <p:sldId id="265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66" r:id="rId17"/>
    <p:sldId id="277" r:id="rId18"/>
    <p:sldId id="278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70E9E-C09F-4B4A-AE67-74E782BC14B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452DA-DB7A-430C-899C-B9EE02F58DD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52637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Pozadina ona čini 77–82 % piksela i maskirala bi stvarne razlike među modelima.</a:t>
            </a:r>
          </a:p>
          <a:p>
            <a:r>
              <a:rPr lang="hr-HR" dirty="0"/>
              <a:t>Dvije rečenice pri izlaganju: </a:t>
            </a:r>
            <a:r>
              <a:rPr lang="hr-HR" i="1" dirty="0"/>
              <a:t>„Prve tri faze vrte se pod istovjetnim uvjetima. Četvrta slijedi optimizacijski protokol preporučen u izvornim radovima DFormera, pa razlika koju ću pokazati predstavlja zajednički doprinos prethodnog treniranja i tog protokola."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452DA-DB7A-430C-899C-B9EE02F58DD6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57452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hr-HR" b="1" dirty="0"/>
              <a:t>Zašto baš te tri metrike</a:t>
            </a:r>
            <a:r>
              <a:rPr lang="hr-HR" dirty="0"/>
              <a:t> — jednom rečenicom: </a:t>
            </a:r>
            <a:r>
              <a:rPr lang="hr-HR" i="1" dirty="0"/>
              <a:t>„mIoU kao ukupna mjera, granična F1-mjera jer je kod tankih struktura preciznost ruba važnija od pokrivenosti, i odziv grana jer propuštena grana u robotskoj rezidbi znači propušten rez."</a:t>
            </a:r>
            <a:endParaRPr lang="hr-HR" dirty="0"/>
          </a:p>
          <a:p>
            <a:pPr lvl="0"/>
            <a:r>
              <a:rPr lang="hr-HR" b="1" dirty="0"/>
              <a:t>ESANet vodi u sve tri</a:t>
            </a:r>
            <a:r>
              <a:rPr lang="hr-HR" dirty="0"/>
              <a:t> — </a:t>
            </a:r>
            <a:r>
              <a:rPr lang="hr-HR" i="1" dirty="0"/>
              <a:t>„Jedina arhitektura projektirana od temelja za RGB-D ulaz, s paralelnim granama enkodera, i vodi u sve tri metrike — s najvećom razlikom upravo u kvaliteti granica, 89,51 naspram 86,05."</a:t>
            </a:r>
            <a:endParaRPr lang="hr-HR" dirty="0"/>
          </a:p>
          <a:p>
            <a:pPr lvl="0"/>
            <a:r>
              <a:rPr lang="hr-HR" b="1" dirty="0"/>
              <a:t>Odziv grana je već zasićen</a:t>
            </a:r>
            <a:r>
              <a:rPr lang="hr-HR" dirty="0"/>
              <a:t> — </a:t>
            </a:r>
            <a:r>
              <a:rPr lang="hr-HR" i="1" dirty="0"/>
              <a:t>„Odziv grana kreće se u uskom rasponu od 93 do 95 posto kod svih modela, dakle osnovna detekcija grana nije usko grlo. Razlike među modelima leže u kvaliteti granica i u klasi potpore."</a:t>
            </a:r>
            <a:r>
              <a:rPr lang="hr-HR" dirty="0"/>
              <a:t> Ovo je korisno jer priprema slajd 11, gdje je cijeli skok u klasi potpore.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452DA-DB7A-430C-899C-B9EE02F58DD6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70287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nalazi iz opće literature ne prenose automatski na specijaliziranu domenu.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452DA-DB7A-430C-899C-B9EE02F58DD6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36423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hr-HR" i="1" dirty="0"/>
              <a:t>Druga generacija nije samo slabija, nego i znatno skuplja — DFormerv2-Small troši 46 milisekundi naspram 12 kod v1-Small, uz nižu točnost. To praktički zatvara pitanje koju generaciju odabrati.”</a:t>
            </a:r>
            <a:endParaRPr lang="hr-HR" dirty="0"/>
          </a:p>
          <a:p>
            <a:pPr rtl="0"/>
            <a:r>
              <a:rPr lang="hr-HR" dirty="0"/>
              <a:t>Za DFormer-Base kao preporuku: </a:t>
            </a:r>
            <a:r>
              <a:rPr lang="hr-HR" i="1" dirty="0"/>
              <a:t>„Base nudi najbolji omjer — najviši mIoU uz 49,73 slike u sekundi, što je više nego dovoljno za sustav koji obraduje statične snimke prije planiranja putanje rezača.”</a:t>
            </a:r>
            <a:endParaRPr lang="hr-HR" dirty="0"/>
          </a:p>
          <a:p>
            <a:pPr rtl="0"/>
            <a:r>
              <a:rPr lang="hr-HR" dirty="0"/>
              <a:t>Ako te pitaju zašto Small nije izbor iako je najbrži: </a:t>
            </a:r>
            <a:r>
              <a:rPr lang="hr-HR" i="1" dirty="0"/>
              <a:t>„Small je 3,4 puta brži, ali gubi pola boda mIoU i 0,2 boda mBF1. Budući da rezidba ne zahtijeva obradu u stvarnom vremenu, ta brzina nije potrebna.”</a:t>
            </a:r>
            <a:endParaRPr lang="hr-HR" dirty="0"/>
          </a:p>
          <a:p>
            <a:pPr rtl="0"/>
            <a:r>
              <a:rPr lang="hr-HR" b="1" dirty="0"/>
              <a:t>Važna napomena za obranu:</a:t>
            </a:r>
            <a:r>
              <a:rPr lang="hr-HR" dirty="0"/>
              <a:t> sva su mjerenja na istom GPU-u (RTX 4060 Ti), s AMP-om, na 77 testnih slika uz 10 zagrijavajućih. Ako netko pita za usporedbu s ImageNet grupom (slajd 9), ta su mjerenja rađena istim postupkom i na istoj kartici, pa je usporedba valjana — DFormer-Small (12,15 ms) je usporediv s U-Net ResNet-34 (11,67 ms) uz 18 bodova viši mIoU. To je jak podatak, vrijedi ga imati spremnog.</a:t>
            </a:r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452DA-DB7A-430C-899C-B9EE02F58DD6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72613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3331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81039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01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56795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69505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34143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01762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5991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51588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293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1778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2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32248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405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16861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43132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27827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737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097152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1122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81676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63338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525320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089569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30676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11420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94940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329D-9301-9311-8D9F-0259C9CC9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943D3-807F-B5E9-255B-D30730ADF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5E613-3E6C-4090-F212-3BF8017F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2A3D9-9870-2611-C316-6499A1A5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FD099-EF0E-86A8-9CDA-2A42E49E7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557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A040F28B-6EFD-48A8-BE2B-D97378D46AA5}" type="datetimeFigureOut">
              <a:rPr lang="hr-HR" smtClean="0"/>
              <a:t>21.9.2026.</a:t>
            </a:fld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E616370C-DD71-4206-9837-88E957B2289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28305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  <p:sldLayoutId id="2147483775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puh.srce.hr/s/exFQfwHmrWJKANc?dir=/Segmentacija%20RGB-D%20slika%20bez%20trave%3A%20potpora%2C%20deblo%20i%20grane%20-%20Ad%C5%BEi%C4%87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4" Type="http://schemas.openxmlformats.org/officeDocument/2006/relationships/hyperlink" Target="https://github.com/Samke004/Diplomski_ra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D3222-75D3-D095-3F00-BC1780587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07246"/>
            <a:ext cx="12192000" cy="20813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hr-HR" sz="5200" b="1" dirty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Semanti</a:t>
            </a:r>
            <a:r>
              <a:rPr lang="hr-HR" sz="5200" dirty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č</a:t>
            </a:r>
            <a:r>
              <a:rPr lang="hr-HR" sz="5200" b="1" dirty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ka segmentacija grana stabala iz </a:t>
            </a:r>
            <a:br>
              <a:rPr lang="hr-HR" sz="5200" b="1" dirty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</a:br>
            <a:r>
              <a:rPr lang="hr-HR" sz="5200" b="1" dirty="0">
                <a:solidFill>
                  <a:schemeClr val="accent5">
                    <a:lumMod val="50000"/>
                  </a:schemeClr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RGB-D slika primjenom dubokog učenja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633E4-99F5-C4DE-5310-7E8FC8378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03290"/>
            <a:ext cx="12192000" cy="2654709"/>
          </a:xfrm>
        </p:spPr>
        <p:txBody>
          <a:bodyPr>
            <a:normAutofit fontScale="92500" lnSpcReduction="20000"/>
          </a:bodyPr>
          <a:lstStyle/>
          <a:p>
            <a:pPr lvl="1" algn="l"/>
            <a:endParaRPr lang="hr-HR" b="1" dirty="0">
              <a:solidFill>
                <a:schemeClr val="accent2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lvl="1" algn="l"/>
            <a:r>
              <a:rPr lang="hr-HR" sz="2200" b="1" dirty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Samuel Adžić</a:t>
            </a:r>
          </a:p>
          <a:p>
            <a:pPr lvl="1" algn="l"/>
            <a:endParaRPr lang="hr-HR" sz="2200" b="1" dirty="0">
              <a:solidFill>
                <a:schemeClr val="accent2">
                  <a:lumMod val="50000"/>
                </a:schemeClr>
              </a:solidFill>
              <a:cs typeface="Times New Roman" panose="02020603050405020304" pitchFamily="18" charset="0"/>
            </a:endParaRPr>
          </a:p>
          <a:p>
            <a:pPr lvl="1" algn="l"/>
            <a:r>
              <a:rPr lang="hr-HR" sz="2200" b="1" dirty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Mentor: Emmanuel Karlo Nyarko</a:t>
            </a:r>
          </a:p>
          <a:p>
            <a:pPr lvl="1" algn="l"/>
            <a:r>
              <a:rPr lang="hr-HR" sz="2200" b="1" dirty="0">
                <a:solidFill>
                  <a:schemeClr val="accent2">
                    <a:lumMod val="50000"/>
                  </a:schemeClr>
                </a:solidFill>
                <a:cs typeface="Times New Roman" panose="02020603050405020304" pitchFamily="18" charset="0"/>
              </a:rPr>
              <a:t>Sumentorica: Jana Dukić</a:t>
            </a:r>
          </a:p>
          <a:p>
            <a:pPr lvl="1" algn="l"/>
            <a:endParaRPr lang="hr-HR" sz="24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hr-HR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Osijek, 2026.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A9A8C5E-BB67-A8B6-51E8-EA2AFBEC74DD}"/>
              </a:ext>
            </a:extLst>
          </p:cNvPr>
          <p:cNvSpPr txBox="1"/>
          <p:nvPr/>
        </p:nvSpPr>
        <p:spPr>
          <a:xfrm>
            <a:off x="548640" y="23258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chemeClr val="accent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SVEUČILIŠTE JOSIPA JURJA STROSSMAYERA U OSIJEKU</a:t>
            </a:r>
            <a:endParaRPr 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7411D7F-B6C4-5EDE-B63C-450ACB4DF9C5}"/>
              </a:ext>
            </a:extLst>
          </p:cNvPr>
          <p:cNvSpPr txBox="1"/>
          <p:nvPr/>
        </p:nvSpPr>
        <p:spPr>
          <a:xfrm>
            <a:off x="548640" y="557649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Fakultet elektrotehnike, računarstva i informacijskih tehnologija Osijek</a:t>
            </a:r>
            <a:endParaRPr lang="en-US" sz="14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198A431-1445-3374-28DD-376E7EEE2216}"/>
              </a:ext>
            </a:extLst>
          </p:cNvPr>
          <p:cNvSpPr txBox="1"/>
          <p:nvPr/>
        </p:nvSpPr>
        <p:spPr>
          <a:xfrm>
            <a:off x="1746069" y="3555101"/>
            <a:ext cx="8699862" cy="275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r-HR" b="1" kern="0" spc="120" dirty="0">
                <a:solidFill>
                  <a:schemeClr val="accent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OBRANA </a:t>
            </a:r>
            <a:r>
              <a:rPr lang="hr-HR" sz="2000" b="1" kern="0" spc="120" dirty="0">
                <a:solidFill>
                  <a:schemeClr val="accent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DIPLOMSKOG</a:t>
            </a:r>
            <a:r>
              <a:rPr lang="hr-HR" b="1" kern="0" spc="120" dirty="0">
                <a:solidFill>
                  <a:schemeClr val="accent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RADA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5" name="Picture 14" descr="Mobile Lab">
            <a:extLst>
              <a:ext uri="{FF2B5EF4-FFF2-40B4-BE49-F238E27FC236}">
                <a16:creationId xmlns:a16="http://schemas.microsoft.com/office/drawing/2014/main" id="{02842291-31CB-E281-CB0C-157ECB65E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7873" y="5826034"/>
            <a:ext cx="1284128" cy="103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46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B0B91-5B5F-557A-3083-F9A8D3FCB739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	</a:t>
            </a:r>
          </a:p>
          <a:p>
            <a:pPr lvl="1"/>
            <a:endParaRPr lang="hr-HR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hr-HR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hr-HR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endParaRPr lang="hr-HR" dirty="0">
              <a:solidFill>
                <a:schemeClr val="accent5">
                  <a:lumMod val="50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1   Uvod i motivacija</a:t>
            </a:r>
          </a:p>
          <a:p>
            <a:pPr lvl="1"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2   Pregled područja</a:t>
            </a:r>
          </a:p>
          <a:p>
            <a:pPr lvl="1"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3   Metodologija</a:t>
            </a:r>
          </a:p>
          <a:p>
            <a:pPr lvl="1"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4   Podatkovni skup</a:t>
            </a:r>
          </a:p>
          <a:p>
            <a:pPr lvl="1"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5   Rezultati</a:t>
            </a:r>
          </a:p>
          <a:p>
            <a:pPr lvl="1"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6   Zaključak</a:t>
            </a:r>
          </a:p>
          <a:p>
            <a:endParaRPr lang="hr-HR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FA5E8E-A59A-6D43-C2C0-91FEC1F58812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2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1" name="Picture 10" descr="Mobile Lab">
            <a:extLst>
              <a:ext uri="{FF2B5EF4-FFF2-40B4-BE49-F238E27FC236}">
                <a16:creationId xmlns:a16="http://schemas.microsoft.com/office/drawing/2014/main" id="{807FE8DB-7185-32F7-5626-A7C074618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3493306-F3D3-492B-B4FD-750F7192A682}"/>
              </a:ext>
            </a:extLst>
          </p:cNvPr>
          <p:cNvSpPr txBox="1"/>
          <p:nvPr/>
        </p:nvSpPr>
        <p:spPr>
          <a:xfrm>
            <a:off x="0" y="327597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SADRŽAJ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100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8D184-6A6B-B53F-4310-ECA95F646DCC}"/>
              </a:ext>
            </a:extLst>
          </p:cNvPr>
          <p:cNvSpPr txBox="1"/>
          <p:nvPr/>
        </p:nvSpPr>
        <p:spPr>
          <a:xfrm>
            <a:off x="-1" y="956267"/>
            <a:ext cx="64138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r-HR" dirty="0"/>
          </a:p>
          <a:p>
            <a:endParaRPr lang="hr-HR" dirty="0"/>
          </a:p>
          <a:p>
            <a:endParaRPr lang="hr-HR" dirty="0"/>
          </a:p>
        </p:txBody>
      </p:sp>
      <p:pic>
        <p:nvPicPr>
          <p:cNvPr id="6" name="Picture 5" descr="Mobile Lab">
            <a:extLst>
              <a:ext uri="{FF2B5EF4-FFF2-40B4-BE49-F238E27FC236}">
                <a16:creationId xmlns:a16="http://schemas.microsoft.com/office/drawing/2014/main" id="{D1DFB55C-DF5B-FF76-45BF-0E8732510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C2BBB0-F5EA-9068-905E-BB5AAA55E665}"/>
              </a:ext>
            </a:extLst>
          </p:cNvPr>
          <p:cNvSpPr txBox="1"/>
          <p:nvPr/>
        </p:nvSpPr>
        <p:spPr>
          <a:xfrm>
            <a:off x="5791847" y="1358538"/>
            <a:ext cx="6413864" cy="32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ručna rezidba čini do 25% godišnjih troškova rada u nasadima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000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autonomna rezidba zahtijeva razumijevanje strukture stabla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000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ključni problem: razlikovati granu od potporne žice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8A622A-F905-4F1C-4DF9-535D85D13589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MOTIVACIJA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187ADA-9192-E305-9C8C-F4FAE9C85F7E}"/>
              </a:ext>
            </a:extLst>
          </p:cNvPr>
          <p:cNvSpPr txBox="1"/>
          <p:nvPr/>
        </p:nvSpPr>
        <p:spPr>
          <a:xfrm>
            <a:off x="2142307" y="6061087"/>
            <a:ext cx="854310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5">
                    <a:lumMod val="50000"/>
                  </a:schemeClr>
                </a:solidFill>
              </a:rPr>
              <a:t>Robot koji potpornu žicu zamijeni granom donosi krivu odluku o rezu.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C8695F-24D5-49EB-440C-329692279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58" y="796913"/>
            <a:ext cx="3775165" cy="50335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F58E4D0-36FB-5FE6-66C0-56834B8B078F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3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671F2B-7D56-22C8-3172-B2386CF577F5}"/>
              </a:ext>
            </a:extLst>
          </p:cNvPr>
          <p:cNvSpPr txBox="1"/>
          <p:nvPr/>
        </p:nvSpPr>
        <p:spPr>
          <a:xfrm>
            <a:off x="-2" y="5900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hr-HR" sz="1200" b="1" dirty="0">
                <a:solidFill>
                  <a:schemeClr val="accent5">
                    <a:lumMod val="50000"/>
                  </a:schemeClr>
                </a:solidFill>
              </a:rPr>
              <a:t>UVOD</a:t>
            </a:r>
          </a:p>
        </p:txBody>
      </p:sp>
    </p:spTree>
    <p:extLst>
      <p:ext uri="{BB962C8B-B14F-4D97-AF65-F5344CB8AC3E}">
        <p14:creationId xmlns:p14="http://schemas.microsoft.com/office/powerpoint/2010/main" val="3398725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A58921-D8D8-2BCC-98F6-DF220A153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48" y="740770"/>
            <a:ext cx="11173229" cy="4310970"/>
          </a:xfrm>
          <a:prstGeom prst="rect">
            <a:avLst/>
          </a:prstGeom>
        </p:spPr>
      </p:pic>
      <p:pic>
        <p:nvPicPr>
          <p:cNvPr id="7" name="Picture 6" descr="Mobile Lab">
            <a:extLst>
              <a:ext uri="{FF2B5EF4-FFF2-40B4-BE49-F238E27FC236}">
                <a16:creationId xmlns:a16="http://schemas.microsoft.com/office/drawing/2014/main" id="{C8175C1E-1A08-1CA7-C9A8-370DEB9AB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761AD8-A524-AB21-A960-B852344E6F10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ZAŠTO RGB NIJE DOVOLJAN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1956B1-8BD5-A839-6593-AA4EB8D27869}"/>
              </a:ext>
            </a:extLst>
          </p:cNvPr>
          <p:cNvSpPr txBox="1"/>
          <p:nvPr/>
        </p:nvSpPr>
        <p:spPr>
          <a:xfrm>
            <a:off x="365759" y="5507993"/>
            <a:ext cx="11826240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u 2D projekciji grana i metalna žica dijele oblik, boju i teksturu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u 3D se razlikuju — žica leži u konstantnoj ravnini, grana zauzima heterogene dubinske raspone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167B9-07A2-834B-6C12-B871F51F5126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4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65741-EFC2-8925-E395-B27877A7B15C}"/>
              </a:ext>
            </a:extLst>
          </p:cNvPr>
          <p:cNvSpPr txBox="1"/>
          <p:nvPr/>
        </p:nvSpPr>
        <p:spPr>
          <a:xfrm>
            <a:off x="-2" y="5900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hr-HR" sz="1200" b="1" dirty="0">
                <a:solidFill>
                  <a:schemeClr val="accent5">
                    <a:lumMod val="50000"/>
                  </a:schemeClr>
                </a:solidFill>
              </a:rPr>
              <a:t>UVOD</a:t>
            </a:r>
          </a:p>
        </p:txBody>
      </p:sp>
    </p:spTree>
    <p:extLst>
      <p:ext uri="{BB962C8B-B14F-4D97-AF65-F5344CB8AC3E}">
        <p14:creationId xmlns:p14="http://schemas.microsoft.com/office/powerpoint/2010/main" val="733411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obile Lab">
            <a:extLst>
              <a:ext uri="{FF2B5EF4-FFF2-40B4-BE49-F238E27FC236}">
                <a16:creationId xmlns:a16="http://schemas.microsoft.com/office/drawing/2014/main" id="{2F21C493-87D9-B07C-A47A-3AE9BD297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1FA8C5-925E-0A1E-8D85-F033C14E90D0}"/>
              </a:ext>
            </a:extLst>
          </p:cNvPr>
          <p:cNvSpPr txBox="1"/>
          <p:nvPr/>
        </p:nvSpPr>
        <p:spPr>
          <a:xfrm>
            <a:off x="-2" y="5900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hr-HR" sz="1200" b="1" dirty="0">
                <a:solidFill>
                  <a:schemeClr val="accent5">
                    <a:lumMod val="50000"/>
                  </a:schemeClr>
                </a:solidFill>
              </a:rPr>
              <a:t>UVOD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53E026-632C-0FE3-7D6F-B0C9B8281592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CILJ I ISTRAŽIVAČKA PITANJA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D5773E-1BAD-9B76-42E9-6854DCD38BFD}"/>
              </a:ext>
            </a:extLst>
          </p:cNvPr>
          <p:cNvSpPr txBox="1"/>
          <p:nvPr/>
        </p:nvSpPr>
        <p:spPr>
          <a:xfrm>
            <a:off x="274320" y="898241"/>
            <a:ext cx="9418320" cy="9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000" b="1" dirty="0">
                <a:solidFill>
                  <a:schemeClr val="accent2">
                    <a:lumMod val="50000"/>
                  </a:schemeClr>
                </a:solidFill>
              </a:rPr>
              <a:t>1. Kako integrirati dubinu u mrežu? 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	rana fuzija · HHA · paralelne grane · RGB-D prethodno treniranje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DFA271-223B-ED68-0BD8-4563A9B61D09}"/>
              </a:ext>
            </a:extLst>
          </p:cNvPr>
          <p:cNvSpPr txBox="1"/>
          <p:nvPr/>
        </p:nvSpPr>
        <p:spPr>
          <a:xfrm>
            <a:off x="274320" y="2100585"/>
            <a:ext cx="9418320" cy="9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000" b="1" dirty="0">
                <a:solidFill>
                  <a:schemeClr val="accent2">
                    <a:lumMod val="50000"/>
                  </a:schemeClr>
                </a:solidFill>
              </a:rPr>
              <a:t>2. Pomaže li geometrijski eksplicitnija reprezentacija dubine?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 	HHA enkodiranje naspram jednokanalne dubine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16C4DB-C97C-7AA8-DEA6-4EA84ACC0817}"/>
              </a:ext>
            </a:extLst>
          </p:cNvPr>
          <p:cNvSpPr txBox="1"/>
          <p:nvPr/>
        </p:nvSpPr>
        <p:spPr>
          <a:xfrm>
            <a:off x="274320" y="3195469"/>
            <a:ext cx="9418320" cy="9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000" b="1" dirty="0">
                <a:solidFill>
                  <a:schemeClr val="accent2">
                    <a:lumMod val="50000"/>
                  </a:schemeClr>
                </a:solidFill>
              </a:rPr>
              <a:t>3. Koliko donosi bazni model prethodno treniran izravno na RGB-D?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 	ImageNet naspram RGB-D prethodnog treniranja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821DB6-1D62-D86F-3FB6-055126779078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5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19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obile Lab">
            <a:extLst>
              <a:ext uri="{FF2B5EF4-FFF2-40B4-BE49-F238E27FC236}">
                <a16:creationId xmlns:a16="http://schemas.microsoft.com/office/drawing/2014/main" id="{D9CFED50-C4AB-CC1B-2A21-F54DD335A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16E5976-D055-C53F-929D-5AAC69CA2246}"/>
              </a:ext>
            </a:extLst>
          </p:cNvPr>
          <p:cNvSpPr txBox="1"/>
          <p:nvPr/>
        </p:nvSpPr>
        <p:spPr>
          <a:xfrm>
            <a:off x="-2" y="5900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hr-HR" sz="1200" b="1" dirty="0">
                <a:solidFill>
                  <a:schemeClr val="accent5">
                    <a:lumMod val="50000"/>
                  </a:schemeClr>
                </a:solidFill>
              </a:rPr>
              <a:t>PREGLED PODRUČJA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CCF697-2D19-498E-8AEE-6D11F8E0D95B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STRATEGIJE INTEGRACIJE DUBINA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C6A457-B430-87E6-4303-F3CD0A14B7D2}"/>
              </a:ext>
            </a:extLst>
          </p:cNvPr>
          <p:cNvSpPr txBox="1"/>
          <p:nvPr/>
        </p:nvSpPr>
        <p:spPr>
          <a:xfrm>
            <a:off x="32357" y="906487"/>
            <a:ext cx="28850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Rana fuzija </a:t>
            </a:r>
          </a:p>
          <a:p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(RGB+D = 4 kanala)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dubina se spaja s RGB kanalima na samom ulazu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ulazni konvolucijski sloj proširen s 3 na 4 kanala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najjednostavnije, primjenjivo na svaku RGB arhitekturu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mreža miješa modalitete prije nego razvije reprezentacije specifične za pojedini modalitet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D0DB71-F9C4-5C97-4CD0-627B71FAC898}"/>
              </a:ext>
            </a:extLst>
          </p:cNvPr>
          <p:cNvSpPr txBox="1"/>
          <p:nvPr/>
        </p:nvSpPr>
        <p:spPr>
          <a:xfrm>
            <a:off x="3069772" y="906487"/>
            <a:ext cx="334409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HHA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(RGB+HHA = 6 kanala) 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jednokanalna dubina → tri kanala s geometrijskim značenjem: </a:t>
            </a:r>
          </a:p>
          <a:p>
            <a:pPr lvl="1"/>
            <a:r>
              <a:rPr lang="hr-HR" sz="1600" b="1" dirty="0">
                <a:solidFill>
                  <a:schemeClr val="accent2">
                    <a:lumMod val="50000"/>
                  </a:schemeClr>
                </a:solidFill>
              </a:rPr>
              <a:t>H</a:t>
            </a: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 horizontalni disparitet</a:t>
            </a:r>
          </a:p>
          <a:p>
            <a:pPr lvl="1"/>
            <a:r>
              <a:rPr lang="hr-HR" sz="1600" b="1" dirty="0">
                <a:solidFill>
                  <a:schemeClr val="accent2">
                    <a:lumMod val="50000"/>
                  </a:schemeClr>
                </a:solidFill>
              </a:rPr>
              <a:t>H</a:t>
            </a: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 visina iznad tla</a:t>
            </a:r>
          </a:p>
          <a:p>
            <a:pPr lvl="1"/>
            <a:r>
              <a:rPr lang="hr-HR" sz="1600" b="1" dirty="0">
                <a:solidFill>
                  <a:schemeClr val="accent2">
                    <a:lumMod val="50000"/>
                  </a:schemeClr>
                </a:solidFill>
              </a:rPr>
              <a:t>A</a:t>
            </a: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 kut normale prema gravitaciji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eksplicitno kodira razliku vertikalnih, horizontalnih i zakrivljenih ploha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u literaturi pokazano kao bolje od sirove dubine za drvenaste strukture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8D8FFA-1105-CB3E-DC5C-B9347F96C2B8}"/>
              </a:ext>
            </a:extLst>
          </p:cNvPr>
          <p:cNvSpPr txBox="1"/>
          <p:nvPr/>
        </p:nvSpPr>
        <p:spPr>
          <a:xfrm>
            <a:off x="6566265" y="906487"/>
            <a:ext cx="270836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Paralelne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grane + SE fuzija </a:t>
            </a:r>
          </a:p>
          <a:p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(ESANet)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odvojena grana enkodera za RGB i za dubinu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spajanje na svakoj razini hijerarhije kroz SE fuzijske module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svaka grana uči značajke prilagođene svom modalitetu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bazni model i dalje prethodno treniran na ImageNetu (RGB)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C9B404-092D-6395-67C1-66B26B5643FB}"/>
              </a:ext>
            </a:extLst>
          </p:cNvPr>
          <p:cNvSpPr txBox="1"/>
          <p:nvPr/>
        </p:nvSpPr>
        <p:spPr>
          <a:xfrm>
            <a:off x="9427030" y="906487"/>
            <a:ext cx="276496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RGB-D prethodno treniranje 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(DFormer)</a:t>
            </a:r>
          </a:p>
          <a:p>
            <a:endParaRPr lang="hr-HR" sz="1600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jedinstveni bazni model uči na parovima slike i dubine </a:t>
            </a:r>
            <a:r>
              <a:rPr lang="hr-HR" sz="1600" b="1" dirty="0">
                <a:solidFill>
                  <a:schemeClr val="accent2">
                    <a:lumMod val="50000"/>
                  </a:schemeClr>
                </a:solidFill>
              </a:rPr>
              <a:t>od početka</a:t>
            </a:r>
            <a:endParaRPr lang="hr-HR" sz="1600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dubinske mape za ImageNet-1K generirane procjeniteljem dubine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uklanja nesklad: klasični modeli u pretreniranju vide samo RGB, a dubinu tek pri finom podešavanju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razmjena informacija unutar samih blokova enkodera, ne naknadnim modulom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789A33-341A-86AA-29C0-8F65E0D3F7C7}"/>
              </a:ext>
            </a:extLst>
          </p:cNvPr>
          <p:cNvSpPr txBox="1"/>
          <p:nvPr/>
        </p:nvSpPr>
        <p:spPr>
          <a:xfrm>
            <a:off x="1102572" y="5804623"/>
            <a:ext cx="9986855" cy="64167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5">
                    <a:lumMod val="50000"/>
                  </a:schemeClr>
                </a:solidFill>
              </a:rPr>
              <a:t>Redoslijed po rastućoj „dubini" intervencije — od spajanja na ulazu do promjene onoga na čemu je bazni model uopće učio.</a:t>
            </a:r>
          </a:p>
        </p:txBody>
      </p:sp>
      <p:pic>
        <p:nvPicPr>
          <p:cNvPr id="28" name="Picture 27" descr="DFormer.png">
            <a:extLst>
              <a:ext uri="{FF2B5EF4-FFF2-40B4-BE49-F238E27FC236}">
                <a16:creationId xmlns:a16="http://schemas.microsoft.com/office/drawing/2014/main" id="{34B93807-A338-2BA3-0AFA-6CF7470FE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97" y="1452884"/>
            <a:ext cx="11685002" cy="415498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DCB5E11-46F9-8A23-9528-3154B45AA9F5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6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0A698-BA5A-0E4E-F345-F376E871BE08}"/>
              </a:ext>
            </a:extLst>
          </p:cNvPr>
          <p:cNvSpPr txBox="1"/>
          <p:nvPr/>
        </p:nvSpPr>
        <p:spPr>
          <a:xfrm>
            <a:off x="986208" y="5638646"/>
            <a:ext cx="1021958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Slika preuzeta iz  B. Yin, X. Zhang, Z. Li, L. Liu, M.-M. Cheng, Q. Hou, DFormer: Rethinking RGBD Representation Learning for Semantic Segmentation, Proceedings of the International Conference on Learning Representations (ICLR), Bec, 2024.</a:t>
            </a:r>
          </a:p>
        </p:txBody>
      </p:sp>
    </p:spTree>
    <p:extLst>
      <p:ext uri="{BB962C8B-B14F-4D97-AF65-F5344CB8AC3E}">
        <p14:creationId xmlns:p14="http://schemas.microsoft.com/office/powerpoint/2010/main" val="90131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obile Lab">
            <a:extLst>
              <a:ext uri="{FF2B5EF4-FFF2-40B4-BE49-F238E27FC236}">
                <a16:creationId xmlns:a16="http://schemas.microsoft.com/office/drawing/2014/main" id="{C5F73219-EA09-489E-5511-6296427E0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66D4F9-3586-FE28-034D-D1AE4C7D8735}"/>
              </a:ext>
            </a:extLst>
          </p:cNvPr>
          <p:cNvSpPr txBox="1"/>
          <p:nvPr/>
        </p:nvSpPr>
        <p:spPr>
          <a:xfrm>
            <a:off x="-2" y="5900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hr-HR" sz="1200" b="1" dirty="0">
                <a:solidFill>
                  <a:schemeClr val="accent5">
                    <a:lumMod val="50000"/>
                  </a:schemeClr>
                </a:solidFill>
              </a:rPr>
              <a:t>PODATKOVNI SKUP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C1E977-224D-3178-38F8-9B09B94F2609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BRANCH v2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3468A5-99ED-D5E9-03A3-671AFB8C0084}"/>
              </a:ext>
            </a:extLst>
          </p:cNvPr>
          <p:cNvSpPr txBox="1"/>
          <p:nvPr/>
        </p:nvSpPr>
        <p:spPr>
          <a:xfrm>
            <a:off x="191586" y="914176"/>
            <a:ext cx="5447213" cy="5029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kruške prije rezidbe, stvarni uvjeti voćnjaka, senzor Asus Xtion Pro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anotacija u 3D oblaku točaka (CloudCompare), zatim projekcija u 2D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podjela na razini stabala — sprječava curenje podataka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pozadina 77–82 % piksela, potpora 0,6–3 % — ekstremna neravnomjernost</a:t>
            </a:r>
          </a:p>
          <a:p>
            <a:pPr>
              <a:lnSpc>
                <a:spcPct val="150000"/>
              </a:lnSpc>
            </a:pPr>
            <a:endParaRPr lang="hr-HR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F73FF8-5B85-8CEC-1315-BAEDEF500776}"/>
              </a:ext>
            </a:extLst>
          </p:cNvPr>
          <p:cNvSpPr txBox="1"/>
          <p:nvPr/>
        </p:nvSpPr>
        <p:spPr>
          <a:xfrm>
            <a:off x="860839" y="5784801"/>
            <a:ext cx="10470318" cy="6648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5">
                    <a:lumMod val="50000"/>
                  </a:schemeClr>
                </a:solidFill>
              </a:rPr>
              <a:t>Podjela po stablima, a ne po slikama — isto stablo nikad nije istovremeno u skupu za treniranje i testiranje (nema curenja podataka).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C317D4-9DC4-7749-1ECF-B2EA18F392F6}"/>
              </a:ext>
            </a:extLst>
          </p:cNvPr>
          <p:cNvSpPr txBox="1"/>
          <p:nvPr/>
        </p:nvSpPr>
        <p:spPr>
          <a:xfrm>
            <a:off x="7341324" y="1440486"/>
            <a:ext cx="1972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58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stabala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C9C82-CE00-A1F5-3482-4B2D2CB632DC}"/>
              </a:ext>
            </a:extLst>
          </p:cNvPr>
          <p:cNvSpPr txBox="1"/>
          <p:nvPr/>
        </p:nvSpPr>
        <p:spPr>
          <a:xfrm>
            <a:off x="9653451" y="1440486"/>
            <a:ext cx="2194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657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 slika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4D0DE4-865E-EA61-2A54-A7F5580F422A}"/>
              </a:ext>
            </a:extLst>
          </p:cNvPr>
          <p:cNvSpPr txBox="1"/>
          <p:nvPr/>
        </p:nvSpPr>
        <p:spPr>
          <a:xfrm>
            <a:off x="7487192" y="2385135"/>
            <a:ext cx="1332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4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klase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C7D1A5-EFDE-3A7C-22B4-CAC21B1A134D}"/>
              </a:ext>
            </a:extLst>
          </p:cNvPr>
          <p:cNvSpPr txBox="1"/>
          <p:nvPr/>
        </p:nvSpPr>
        <p:spPr>
          <a:xfrm>
            <a:off x="9653453" y="2385135"/>
            <a:ext cx="2538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640×480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rezolucija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E9A765-1068-5B24-471C-2BD8931897DD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7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393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Lab">
            <a:extLst>
              <a:ext uri="{FF2B5EF4-FFF2-40B4-BE49-F238E27FC236}">
                <a16:creationId xmlns:a16="http://schemas.microsoft.com/office/drawing/2014/main" id="{10602579-ABBF-76DF-A29B-C6DE567EA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B8E934-ED18-FF69-459D-4DB9BFC97E80}"/>
              </a:ext>
            </a:extLst>
          </p:cNvPr>
          <p:cNvSpPr txBox="1"/>
          <p:nvPr/>
        </p:nvSpPr>
        <p:spPr>
          <a:xfrm>
            <a:off x="-2" y="59009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hr-HR" sz="1200" b="1" dirty="0">
                <a:solidFill>
                  <a:schemeClr val="accent5">
                    <a:lumMod val="50000"/>
                  </a:schemeClr>
                </a:solidFill>
              </a:rPr>
              <a:t>PODATKOVNI SKUP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9CF145-4752-F6BA-C292-059A8A1EF98F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BRANCH v2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E064A8-D9D0-F252-14B8-B38C669B1F35}"/>
              </a:ext>
            </a:extLst>
          </p:cNvPr>
          <p:cNvSpPr txBox="1"/>
          <p:nvPr/>
        </p:nvSpPr>
        <p:spPr>
          <a:xfrm>
            <a:off x="269115" y="6444918"/>
            <a:ext cx="36053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>
                <a:solidFill>
                  <a:schemeClr val="accent2">
                    <a:lumMod val="50000"/>
                  </a:schemeClr>
                </a:solidFill>
              </a:rPr>
              <a:t>Anotirani oblak točaka u CloudCompare-u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DB99D2-83C9-2D80-A0B0-607446870134}"/>
              </a:ext>
            </a:extLst>
          </p:cNvPr>
          <p:cNvSpPr txBox="1"/>
          <p:nvPr/>
        </p:nvSpPr>
        <p:spPr>
          <a:xfrm>
            <a:off x="3775745" y="3330822"/>
            <a:ext cx="38086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PROJEKCIJA MODELOM KAMERE</a:t>
            </a:r>
          </a:p>
          <a:p>
            <a:pPr algn="ctr"/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FX = FY = 570,34 px </a:t>
            </a:r>
          </a:p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CX = 314,5 CY = 235,5</a:t>
            </a:r>
          </a:p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Asus Xtion Pro</a:t>
            </a:r>
          </a:p>
          <a:p>
            <a:pPr algn="ctr"/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Z-buffer: pri preklapanju zadržava se točka najbliža senzoru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F683AD-4863-59FF-4CB8-6A88E63E1AA3}"/>
              </a:ext>
            </a:extLst>
          </p:cNvPr>
          <p:cNvSpPr txBox="1"/>
          <p:nvPr/>
        </p:nvSpPr>
        <p:spPr>
          <a:xfrm>
            <a:off x="8502391" y="6356855"/>
            <a:ext cx="2669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>
                <a:solidFill>
                  <a:schemeClr val="accent2">
                    <a:lumMod val="50000"/>
                  </a:schemeClr>
                </a:solidFill>
              </a:rPr>
              <a:t>RGB-D par + anotacijska maska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EAFB9E-CB3A-5080-BA6D-6E76D5EEAF16}"/>
              </a:ext>
            </a:extLst>
          </p:cNvPr>
          <p:cNvSpPr txBox="1"/>
          <p:nvPr/>
        </p:nvSpPr>
        <p:spPr>
          <a:xfrm>
            <a:off x="182877" y="1531715"/>
            <a:ext cx="12009121" cy="1290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anotacija se provodi u 3D, pregledom iz više kutova — pouzdanije i brže nego označavanje po pikselima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vlastita skripta projicira oznake u 2D uz Z-buffer (zadržava se točka najbliža senzoru)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klasa pozadina ne postoji u 3D — nastaje tek projekcijom, za piksele bez odgovarajuće točke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B98A19-0B85-5C05-1B95-C852387513DD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8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" name="Picture 1" descr="zaprezucloudcmpr.png">
            <a:extLst>
              <a:ext uri="{FF2B5EF4-FFF2-40B4-BE49-F238E27FC236}">
                <a16:creationId xmlns:a16="http://schemas.microsoft.com/office/drawing/2014/main" id="{953E6E07-A445-2958-CF1C-09DB906F8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15" y="2821876"/>
            <a:ext cx="3023439" cy="36043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6245F7-2F3E-11A4-E4BC-1F53959F4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6791" y="3172902"/>
            <a:ext cx="1920000" cy="144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68D465-24C3-3F8D-924C-01D580A55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233" y="3172902"/>
            <a:ext cx="1892902" cy="144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F3C6BB-3ACA-6908-8993-CCBEBB0D92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9233" y="4724401"/>
            <a:ext cx="1920000" cy="1440000"/>
          </a:xfrm>
          <a:prstGeom prst="rect">
            <a:avLst/>
          </a:prstGeom>
        </p:spPr>
      </p:pic>
      <p:sp>
        <p:nvSpPr>
          <p:cNvPr id="17" name="Arrow: Right 16">
            <a:extLst>
              <a:ext uri="{FF2B5EF4-FFF2-40B4-BE49-F238E27FC236}">
                <a16:creationId xmlns:a16="http://schemas.microsoft.com/office/drawing/2014/main" id="{CFD2F569-20C3-9E0F-9969-4EAB4E469C66}"/>
              </a:ext>
            </a:extLst>
          </p:cNvPr>
          <p:cNvSpPr/>
          <p:nvPr/>
        </p:nvSpPr>
        <p:spPr>
          <a:xfrm>
            <a:off x="7211008" y="4640542"/>
            <a:ext cx="1032387" cy="511369"/>
          </a:xfrm>
          <a:prstGeom prst="rightArrow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EA4902-E166-B2A7-46BC-34CF170D4E26}"/>
              </a:ext>
            </a:extLst>
          </p:cNvPr>
          <p:cNvSpPr txBox="1"/>
          <p:nvPr/>
        </p:nvSpPr>
        <p:spPr>
          <a:xfrm>
            <a:off x="3424996" y="4111397"/>
            <a:ext cx="6046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9600" b="1" dirty="0">
                <a:solidFill>
                  <a:schemeClr val="accent2">
                    <a:lumMod val="50000"/>
                  </a:schemeClr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707647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Lab">
            <a:extLst>
              <a:ext uri="{FF2B5EF4-FFF2-40B4-BE49-F238E27FC236}">
                <a16:creationId xmlns:a16="http://schemas.microsoft.com/office/drawing/2014/main" id="{6083C1D6-C282-6644-31CE-7581CD3A3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DD3965-F720-951D-2580-1734267BE960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METODOLOGIJA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A32FF8-1A9A-B462-47C5-3F8CD82221C5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EKSPERIMENTALNI DIZAJN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7D950F2-447F-AE12-A114-214E7FE7D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293655"/>
              </p:ext>
            </p:extLst>
          </p:nvPr>
        </p:nvGraphicFramePr>
        <p:xfrm>
          <a:off x="1899916" y="928033"/>
          <a:ext cx="8392164" cy="3069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98041">
                  <a:extLst>
                    <a:ext uri="{9D8B030D-6E8A-4147-A177-3AD203B41FA5}">
                      <a16:colId xmlns:a16="http://schemas.microsoft.com/office/drawing/2014/main" val="2160101657"/>
                    </a:ext>
                  </a:extLst>
                </a:gridCol>
                <a:gridCol w="2098041">
                  <a:extLst>
                    <a:ext uri="{9D8B030D-6E8A-4147-A177-3AD203B41FA5}">
                      <a16:colId xmlns:a16="http://schemas.microsoft.com/office/drawing/2014/main" val="2547234402"/>
                    </a:ext>
                  </a:extLst>
                </a:gridCol>
                <a:gridCol w="2098041">
                  <a:extLst>
                    <a:ext uri="{9D8B030D-6E8A-4147-A177-3AD203B41FA5}">
                      <a16:colId xmlns:a16="http://schemas.microsoft.com/office/drawing/2014/main" val="1898060110"/>
                    </a:ext>
                  </a:extLst>
                </a:gridCol>
                <a:gridCol w="2098041">
                  <a:extLst>
                    <a:ext uri="{9D8B030D-6E8A-4147-A177-3AD203B41FA5}">
                      <a16:colId xmlns:a16="http://schemas.microsoft.com/office/drawing/2014/main" val="4054497030"/>
                    </a:ext>
                  </a:extLst>
                </a:gridCol>
              </a:tblGrid>
              <a:tr h="613840">
                <a:tc>
                  <a:txBody>
                    <a:bodyPr/>
                    <a:lstStyle/>
                    <a:p>
                      <a:r>
                        <a:rPr lang="hr-HR" dirty="0"/>
                        <a:t>FAZA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UZORAKA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DUBINA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BAZNI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15237"/>
                  </a:ext>
                </a:extLst>
              </a:tr>
              <a:tr h="613840">
                <a:tc>
                  <a:txBody>
                    <a:bodyPr/>
                    <a:lstStyle/>
                    <a:p>
                      <a:r>
                        <a:rPr lang="hr-HR" dirty="0"/>
                        <a:t>Eksperiment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1-kanalna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ImageNet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095717"/>
                  </a:ext>
                </a:extLst>
              </a:tr>
              <a:tr h="613840">
                <a:tc>
                  <a:txBody>
                    <a:bodyPr/>
                    <a:lstStyle/>
                    <a:p>
                      <a:r>
                        <a:rPr lang="hr-HR" dirty="0"/>
                        <a:t>Eksperiment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1-kanalna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ImageNet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4509742"/>
                  </a:ext>
                </a:extLst>
              </a:tr>
              <a:tr h="613840">
                <a:tc>
                  <a:txBody>
                    <a:bodyPr/>
                    <a:lstStyle/>
                    <a:p>
                      <a:r>
                        <a:rPr lang="hr-HR" dirty="0"/>
                        <a:t>Eksperiment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HHA (3 kanala)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ImageNet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797802"/>
                  </a:ext>
                </a:extLst>
              </a:tr>
              <a:tr h="613840">
                <a:tc>
                  <a:txBody>
                    <a:bodyPr/>
                    <a:lstStyle/>
                    <a:p>
                      <a:r>
                        <a:rPr lang="hr-HR" dirty="0"/>
                        <a:t>Eksperiment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1-kanalna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r-HR" dirty="0"/>
                        <a:t>RGB-D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92434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C6FEBA3-7E32-3CE0-DFED-F5A54233331E}"/>
              </a:ext>
            </a:extLst>
          </p:cNvPr>
          <p:cNvSpPr txBox="1"/>
          <p:nvPr/>
        </p:nvSpPr>
        <p:spPr>
          <a:xfrm>
            <a:off x="352695" y="4706667"/>
            <a:ext cx="11486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/>
              <a:t>26</a:t>
            </a:r>
            <a:r>
              <a:rPr lang="hr-HR" dirty="0"/>
              <a:t> evaluiranih konfiguracija 				 </a:t>
            </a:r>
            <a:r>
              <a:rPr lang="hr-HR" b="1" dirty="0"/>
              <a:t>3</a:t>
            </a:r>
            <a:r>
              <a:rPr lang="hr-HR" dirty="0"/>
              <a:t> primarne metrike (mIoU, mBF1, odziv grana)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A04F6D-7DD7-7BB4-E413-BE23BEC1E275}"/>
              </a:ext>
            </a:extLst>
          </p:cNvPr>
          <p:cNvSpPr txBox="1"/>
          <p:nvPr/>
        </p:nvSpPr>
        <p:spPr>
          <a:xfrm>
            <a:off x="3350623" y="5615382"/>
            <a:ext cx="612648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hr-HR" dirty="0"/>
              <a:t>mIoU se računa bez klase pozadine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C36D1A-64AA-EA34-41D0-C073B0F01DF1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9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90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141B94-2800-0F1A-747A-8AAA6EF82CBD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REZULTATI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D8F2ED-63F1-AA65-BAD6-F76F3C8AB089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VIŠE PODATAKA NOSI VIŠE OD ARHITEKTURE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A6721E0-24B4-3ABD-9E0E-CCFF162B9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253030"/>
              </p:ext>
            </p:extLst>
          </p:nvPr>
        </p:nvGraphicFramePr>
        <p:xfrm>
          <a:off x="117564" y="1254034"/>
          <a:ext cx="11956878" cy="526330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17076">
                  <a:extLst>
                    <a:ext uri="{9D8B030D-6E8A-4147-A177-3AD203B41FA5}">
                      <a16:colId xmlns:a16="http://schemas.microsoft.com/office/drawing/2014/main" val="2679339146"/>
                    </a:ext>
                  </a:extLst>
                </a:gridCol>
                <a:gridCol w="1776549">
                  <a:extLst>
                    <a:ext uri="{9D8B030D-6E8A-4147-A177-3AD203B41FA5}">
                      <a16:colId xmlns:a16="http://schemas.microsoft.com/office/drawing/2014/main" val="1315020999"/>
                    </a:ext>
                  </a:extLst>
                </a:gridCol>
                <a:gridCol w="1998617">
                  <a:extLst>
                    <a:ext uri="{9D8B030D-6E8A-4147-A177-3AD203B41FA5}">
                      <a16:colId xmlns:a16="http://schemas.microsoft.com/office/drawing/2014/main" val="833656728"/>
                    </a:ext>
                  </a:extLst>
                </a:gridCol>
                <a:gridCol w="1489165">
                  <a:extLst>
                    <a:ext uri="{9D8B030D-6E8A-4147-A177-3AD203B41FA5}">
                      <a16:colId xmlns:a16="http://schemas.microsoft.com/office/drawing/2014/main" val="2087240688"/>
                    </a:ext>
                  </a:extLst>
                </a:gridCol>
                <a:gridCol w="1982658">
                  <a:extLst>
                    <a:ext uri="{9D8B030D-6E8A-4147-A177-3AD203B41FA5}">
                      <a16:colId xmlns:a16="http://schemas.microsoft.com/office/drawing/2014/main" val="1269233143"/>
                    </a:ext>
                  </a:extLst>
                </a:gridCol>
                <a:gridCol w="1992813">
                  <a:extLst>
                    <a:ext uri="{9D8B030D-6E8A-4147-A177-3AD203B41FA5}">
                      <a16:colId xmlns:a16="http://schemas.microsoft.com/office/drawing/2014/main" val="1392498484"/>
                    </a:ext>
                  </a:extLst>
                </a:gridCol>
              </a:tblGrid>
              <a:tr h="445906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mIoU (Eksp.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hr-H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mIoU (Eksp. 2)</a:t>
                      </a:r>
                      <a:endParaRPr lang="hr-H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hr-H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Δ</a:t>
                      </a:r>
                      <a:endParaRPr lang="hr-H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mBF1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Odziv grana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100773"/>
                  </a:ext>
                </a:extLst>
              </a:tr>
              <a:tr h="499528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U-Net ResNet-34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54,80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68,75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+13,95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81,96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93,97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553766"/>
                  </a:ext>
                </a:extLst>
              </a:tr>
              <a:tr h="6658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U-Net EfficientNet-B4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57,22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69,76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+12,54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84,72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94,82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9059595"/>
                  </a:ext>
                </a:extLst>
              </a:tr>
              <a:tr h="665843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DeepLabV3 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55,03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69,44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+14,41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86,05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93,72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6570696"/>
                  </a:ext>
                </a:extLst>
              </a:tr>
              <a:tr h="445906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SegFormer-B1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56,16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>
                          <a:solidFill>
                            <a:schemeClr val="tx1"/>
                          </a:solidFill>
                          <a:effectLst/>
                        </a:rPr>
                        <a:t>70,21</a:t>
                      </a:r>
                      <a:endParaRPr lang="hr-HR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+14,05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85,61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93,67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6388279"/>
                  </a:ext>
                </a:extLst>
              </a:tr>
              <a:tr h="665843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MA-Net ResNeXt-50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56,60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69,35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+12,75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82,24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93,84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731829"/>
                  </a:ext>
                </a:extLst>
              </a:tr>
              <a:tr h="828110"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DeepLabV3+ 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52,76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66,48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+13,72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83,54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92,75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5188276"/>
                  </a:ext>
                </a:extLst>
              </a:tr>
              <a:tr h="665843">
                <a:tc>
                  <a:txBody>
                    <a:bodyPr/>
                    <a:lstStyle/>
                    <a:p>
                      <a:pPr algn="ctr"/>
                      <a:r>
                        <a:rPr lang="hr-HR" b="1" dirty="0">
                          <a:solidFill>
                            <a:schemeClr val="tx1"/>
                          </a:solidFill>
                        </a:rPr>
                        <a:t>ESANet ResNet-34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>
                          <a:solidFill>
                            <a:schemeClr val="tx1"/>
                          </a:solidFill>
                          <a:effectLst/>
                        </a:rPr>
                        <a:t>71,41</a:t>
                      </a:r>
                      <a:endParaRPr lang="hr-HR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solidFill>
                            <a:schemeClr val="tx1"/>
                          </a:solidFill>
                          <a:effectLst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>
                          <a:solidFill>
                            <a:schemeClr val="tx1"/>
                          </a:solidFill>
                          <a:effectLst/>
                        </a:rPr>
                        <a:t>89,51</a:t>
                      </a:r>
                      <a:endParaRPr lang="hr-HR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 dirty="0">
                          <a:solidFill>
                            <a:schemeClr val="tx1"/>
                          </a:solidFill>
                          <a:effectLst/>
                        </a:rPr>
                        <a:t>95,30</a:t>
                      </a:r>
                      <a:endParaRPr lang="hr-HR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5513896"/>
                  </a:ext>
                </a:extLst>
              </a:tr>
              <a:tr h="380482">
                <a:tc>
                  <a:txBody>
                    <a:bodyPr/>
                    <a:lstStyle/>
                    <a:p>
                      <a:pPr algn="ctr"/>
                      <a:endParaRPr lang="hr-H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>
                          <a:solidFill>
                            <a:schemeClr val="tx1"/>
                          </a:solidFill>
                        </a:rPr>
                        <a:t>+13,57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hr-H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813842"/>
                  </a:ext>
                </a:extLst>
              </a:tr>
            </a:tbl>
          </a:graphicData>
        </a:graphic>
      </p:graphicFrame>
      <p:pic>
        <p:nvPicPr>
          <p:cNvPr id="10" name="Picture 9" descr="Mobile Lab">
            <a:extLst>
              <a:ext uri="{FF2B5EF4-FFF2-40B4-BE49-F238E27FC236}">
                <a16:creationId xmlns:a16="http://schemas.microsoft.com/office/drawing/2014/main" id="{22AA6372-A06C-96B6-E1F9-9A0205AE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BC59EE-77F8-E823-C683-E3B86B485FB3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10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001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804A14-7D6C-C26E-5D5B-F18975BD801E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REZULTATI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1DE86-8E08-9795-2831-CF31CE90B8CC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VIŠE PODATAKA NOSI VIŠE OD ARHITEKTURE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CEC69-07FB-4BC4-335C-580897D6654D}"/>
              </a:ext>
            </a:extLst>
          </p:cNvPr>
          <p:cNvSpPr txBox="1"/>
          <p:nvPr/>
        </p:nvSpPr>
        <p:spPr>
          <a:xfrm>
            <a:off x="535577" y="1410789"/>
            <a:ext cx="7602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+13,57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prosječni dobitak mIoU 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6/6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modela poboljšano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DFE11F-D946-09E6-5EF9-7EE224F094E8}"/>
              </a:ext>
            </a:extLst>
          </p:cNvPr>
          <p:cNvSpPr txBox="1"/>
          <p:nvPr/>
        </p:nvSpPr>
        <p:spPr>
          <a:xfrm>
            <a:off x="1262741" y="4200716"/>
            <a:ext cx="9666514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Uz proširenje skupa promijenio se i testni skup, pa je riječ o zajedničkom učinku — </a:t>
            </a:r>
          </a:p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smjer je ipak jednoznačan i vrijedi za svaki model.</a:t>
            </a:r>
          </a:p>
        </p:txBody>
      </p:sp>
      <p:pic>
        <p:nvPicPr>
          <p:cNvPr id="11" name="Picture 10" descr="Mobile Lab">
            <a:extLst>
              <a:ext uri="{FF2B5EF4-FFF2-40B4-BE49-F238E27FC236}">
                <a16:creationId xmlns:a16="http://schemas.microsoft.com/office/drawing/2014/main" id="{59263D3E-41FA-845A-14F0-714E27C99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EC99E5E-3141-3F10-96FA-0B8867D21575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11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02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3FA47-6381-8D8D-BF29-9496883EE220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REZULTATI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8CEF6-CAA9-C371-0309-46A5BA96D1BB}"/>
              </a:ext>
            </a:extLst>
          </p:cNvPr>
          <p:cNvSpPr txBox="1"/>
          <p:nvPr/>
        </p:nvSpPr>
        <p:spPr>
          <a:xfrm>
            <a:off x="-1" y="340660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HHA ne pomaže u ovoj domeni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CA62D-4310-A645-EE14-6B28CCFEFBBC}"/>
              </a:ext>
            </a:extLst>
          </p:cNvPr>
          <p:cNvSpPr txBox="1"/>
          <p:nvPr/>
        </p:nvSpPr>
        <p:spPr>
          <a:xfrm>
            <a:off x="746540" y="5772993"/>
            <a:ext cx="1069891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HHA kodira kontrast cilindrično-naspram-ravno. U zimskom voćnjaku bez lišća taj kontrast ne postoji — sve su ciljne klase cilindrične.</a:t>
            </a:r>
            <a:endParaRPr lang="hr-HR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0" name="Picture 9" descr="Mobile Lab">
            <a:extLst>
              <a:ext uri="{FF2B5EF4-FFF2-40B4-BE49-F238E27FC236}">
                <a16:creationId xmlns:a16="http://schemas.microsoft.com/office/drawing/2014/main" id="{51CB6223-E0E4-5483-D06C-D839D33CE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CB4001-54B2-C232-13D7-5E3A1CF0240D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12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9CCF5340-4F32-C86A-7BA0-E45E81B060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444738"/>
              </p:ext>
            </p:extLst>
          </p:nvPr>
        </p:nvGraphicFramePr>
        <p:xfrm>
          <a:off x="1703998" y="1071724"/>
          <a:ext cx="8784000" cy="3927481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492000">
                  <a:extLst>
                    <a:ext uri="{9D8B030D-6E8A-4147-A177-3AD203B41FA5}">
                      <a16:colId xmlns:a16="http://schemas.microsoft.com/office/drawing/2014/main" val="3448951805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882646814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3967549958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747193683"/>
                    </a:ext>
                  </a:extLst>
                </a:gridCol>
              </a:tblGrid>
              <a:tr h="3965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mIoU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mBF1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Odziv grana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059692"/>
                  </a:ext>
                </a:extLst>
              </a:tr>
              <a:tr h="396551"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U-Net ResNet-34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66,59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81,68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92,47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862891"/>
                  </a:ext>
                </a:extLst>
              </a:tr>
              <a:tr h="684457"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U-Net EfficientNet-B4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68,32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82,02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93,27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203656"/>
                  </a:ext>
                </a:extLst>
              </a:tr>
              <a:tr h="684457"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DeepLabV3 ResNet-50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67,42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84,36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92,77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1870218"/>
                  </a:ext>
                </a:extLst>
              </a:tr>
              <a:tr h="396551"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SegFormer-B1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67,72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84,22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92,70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000701"/>
                  </a:ext>
                </a:extLst>
              </a:tr>
              <a:tr h="684457"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DeepLabV3+ 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64,76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81,64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91,31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815030"/>
                  </a:ext>
                </a:extLst>
              </a:tr>
              <a:tr h="684457">
                <a:tc>
                  <a:txBody>
                    <a:bodyPr/>
                    <a:lstStyle/>
                    <a:p>
                      <a:pPr algn="ctr"/>
                      <a:r>
                        <a:rPr kumimoji="0" lang="hr-H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Δ</a:t>
                      </a:r>
                      <a:r>
                        <a:rPr kumimoji="0" lang="hr-HR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 prosjeka sa prethodnim eksp.</a:t>
                      </a:r>
                      <a:endParaRPr lang="hr-HR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-1,97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-1,59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dirty="0"/>
                        <a:t>-1,28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03209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FD647B6-7449-31C5-D32B-815F42480F26}"/>
              </a:ext>
            </a:extLst>
          </p:cNvPr>
          <p:cNvSpPr txBox="1"/>
          <p:nvPr/>
        </p:nvSpPr>
        <p:spPr>
          <a:xfrm>
            <a:off x="418011" y="5128604"/>
            <a:ext cx="10816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−1,97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prosječna promjena mIoU, </a:t>
            </a:r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5/5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modela degradirano u svim metrikama</a:t>
            </a:r>
          </a:p>
        </p:txBody>
      </p:sp>
    </p:spTree>
    <p:extLst>
      <p:ext uri="{BB962C8B-B14F-4D97-AF65-F5344CB8AC3E}">
        <p14:creationId xmlns:p14="http://schemas.microsoft.com/office/powerpoint/2010/main" val="4261431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Lab">
            <a:extLst>
              <a:ext uri="{FF2B5EF4-FFF2-40B4-BE49-F238E27FC236}">
                <a16:creationId xmlns:a16="http://schemas.microsoft.com/office/drawing/2014/main" id="{EE0862BC-DF69-5252-B6D0-F059CBAF7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287612-A02D-3C2F-6A9F-6019D4D61078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REZULTATI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5BAB53-73CA-D730-DB8A-9ABCB1C35B63}"/>
              </a:ext>
            </a:extLst>
          </p:cNvPr>
          <p:cNvSpPr txBox="1"/>
          <p:nvPr/>
        </p:nvSpPr>
        <p:spPr>
          <a:xfrm>
            <a:off x="0" y="32061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PRETHODNO TRENIRANJE NA RGB-D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C0C462-654B-BAAA-E8AA-A444F327E2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541682"/>
              </p:ext>
            </p:extLst>
          </p:nvPr>
        </p:nvGraphicFramePr>
        <p:xfrm>
          <a:off x="1685998" y="1133336"/>
          <a:ext cx="8820000" cy="45105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341633898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15031527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2125134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34110039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425735828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450392970"/>
                    </a:ext>
                  </a:extLst>
                </a:gridCol>
              </a:tblGrid>
              <a:tr h="3737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mIoU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mBF1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Odziv grana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ms/slici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FPS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0594219"/>
                  </a:ext>
                </a:extLst>
              </a:tr>
              <a:tr h="645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DFormer-Small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87,20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96,08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94,40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12,15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>
                          <a:effectLst/>
                        </a:rPr>
                        <a:t>82,28</a:t>
                      </a:r>
                      <a:endParaRPr lang="hr-HR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779716"/>
                  </a:ext>
                </a:extLst>
              </a:tr>
              <a:tr h="645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/>
                        <a:t>DFormer-Base</a:t>
                      </a:r>
                      <a:endParaRPr lang="hr-H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>
                          <a:effectLst/>
                        </a:rPr>
                        <a:t>87,67</a:t>
                      </a:r>
                      <a:endParaRPr lang="hr-HR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96,28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94,30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20,11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49,73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017645"/>
                  </a:ext>
                </a:extLst>
              </a:tr>
              <a:tr h="645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DFormer-Large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87,66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>
                          <a:effectLst/>
                        </a:rPr>
                        <a:t>96,29</a:t>
                      </a:r>
                      <a:endParaRPr lang="hr-HR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>
                          <a:effectLst/>
                        </a:rPr>
                        <a:t>94,58</a:t>
                      </a:r>
                      <a:endParaRPr lang="hr-HR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27,28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36,65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2286819"/>
                  </a:ext>
                </a:extLst>
              </a:tr>
              <a:tr h="645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DFormerv2-Small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84,75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94,81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92,27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45,99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21,75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5491722"/>
                  </a:ext>
                </a:extLst>
              </a:tr>
              <a:tr h="645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DFormerv2-Base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85,21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95,05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93,74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71,66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>
                          <a:effectLst/>
                        </a:rPr>
                        <a:t>13,96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261962"/>
                  </a:ext>
                </a:extLst>
              </a:tr>
              <a:tr h="645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DFormerv2-Large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85,45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95,12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93,65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89,81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>
                          <a:effectLst/>
                        </a:rPr>
                        <a:t>11,13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07788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79E2182-B42F-FF83-C249-085504C4D876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13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772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Lab">
            <a:extLst>
              <a:ext uri="{FF2B5EF4-FFF2-40B4-BE49-F238E27FC236}">
                <a16:creationId xmlns:a16="http://schemas.microsoft.com/office/drawing/2014/main" id="{7EF28295-45E8-526C-130C-9573714E2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D3968C-F78A-8EA8-3903-C04920767D79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REZULTATI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720D8-EE21-5226-8613-8A8385E7DC23}"/>
              </a:ext>
            </a:extLst>
          </p:cNvPr>
          <p:cNvSpPr txBox="1"/>
          <p:nvPr/>
        </p:nvSpPr>
        <p:spPr>
          <a:xfrm>
            <a:off x="-2" y="328381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PRETHODNO TRENIRANJE NA RGB-D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7CE08F1-31E2-8B52-6CA3-1CD1A8BF79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266759"/>
              </p:ext>
            </p:extLst>
          </p:nvPr>
        </p:nvGraphicFramePr>
        <p:xfrm>
          <a:off x="2031998" y="1133336"/>
          <a:ext cx="8128000" cy="222504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275519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3238457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783069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15651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hr-H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ESANet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DFormer-Base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0301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mIoU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71,41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/>
                        <a:t>87,67</a:t>
                      </a:r>
                      <a:endParaRPr lang="hr-H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+16,26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496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mBF1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89,51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/>
                        <a:t>96,28</a:t>
                      </a:r>
                      <a:endParaRPr lang="hr-H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+6,77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062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IoU deblo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81,25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 dirty="0"/>
                        <a:t>81,69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+0,44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739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IoU grane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 dirty="0"/>
                        <a:t>90,31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/>
                        <a:t>88,45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−1,86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51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IoU potpore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42,66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b="1" dirty="0"/>
                        <a:t>92,88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r-HR" dirty="0"/>
                        <a:t>50,22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5833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EB9D5CC4-0E6B-F65B-5BB8-E68725E616AC}"/>
              </a:ext>
            </a:extLst>
          </p:cNvPr>
          <p:cNvSpPr txBox="1"/>
          <p:nvPr/>
        </p:nvSpPr>
        <p:spPr>
          <a:xfrm>
            <a:off x="799009" y="4661912"/>
            <a:ext cx="10593977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Skok nije ravnomjeran — gotovo je u cijelosti u klasi potpore, točno onom problemu identificiranom na početku rada.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CB9C97-8D41-7A1B-7240-AF75B6307445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14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67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Lab">
            <a:extLst>
              <a:ext uri="{FF2B5EF4-FFF2-40B4-BE49-F238E27FC236}">
                <a16:creationId xmlns:a16="http://schemas.microsoft.com/office/drawing/2014/main" id="{BDA310C8-FAB1-688B-86C1-58563A80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68B23E-ECE6-A41F-FAD1-5A6C8176677C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REZULTATI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5F9942-D88B-7044-C18E-C28D563B0DCF}"/>
              </a:ext>
            </a:extLst>
          </p:cNvPr>
          <p:cNvSpPr txBox="1"/>
          <p:nvPr/>
        </p:nvSpPr>
        <p:spPr>
          <a:xfrm>
            <a:off x="0" y="32061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KVALITATIVNI REZULTATI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368207-0EBD-6747-CDFF-E6320F76B8B2}"/>
              </a:ext>
            </a:extLst>
          </p:cNvPr>
          <p:cNvSpPr txBox="1"/>
          <p:nvPr/>
        </p:nvSpPr>
        <p:spPr>
          <a:xfrm>
            <a:off x="7146038" y="1231702"/>
            <a:ext cx="5045962" cy="152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drugo stablo u kadru klasificirano kao grane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izolirane horizontalne žice na rubu kadra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zamućena granica deblo/grane u zoni grananja — </a:t>
            </a:r>
            <a:r>
              <a:rPr lang="hr-HR" sz="1600" b="1" dirty="0">
                <a:solidFill>
                  <a:schemeClr val="accent2">
                    <a:lumMod val="50000"/>
                  </a:schemeClr>
                </a:solidFill>
              </a:rPr>
              <a:t>8,88 %</a:t>
            </a:r>
            <a:r>
              <a:rPr lang="hr-HR" sz="1600" dirty="0">
                <a:solidFill>
                  <a:schemeClr val="accent2">
                    <a:lumMod val="50000"/>
                  </a:schemeClr>
                </a:solidFill>
              </a:rPr>
              <a:t> u matrici zabune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D5F751-6BAC-3BA8-0492-9B8835458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23" y="773081"/>
            <a:ext cx="6693192" cy="586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7D7EC0-DFD7-43AE-168A-09CC248A3420}"/>
              </a:ext>
            </a:extLst>
          </p:cNvPr>
          <p:cNvSpPr txBox="1"/>
          <p:nvPr/>
        </p:nvSpPr>
        <p:spPr>
          <a:xfrm>
            <a:off x="7146038" y="4235906"/>
            <a:ext cx="4512891" cy="6648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Prikazani su najgori primjeri iz testnog skupa.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717DB2-1F4F-43EB-19E4-CE055D8D520A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15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768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obile Lab">
            <a:extLst>
              <a:ext uri="{FF2B5EF4-FFF2-40B4-BE49-F238E27FC236}">
                <a16:creationId xmlns:a16="http://schemas.microsoft.com/office/drawing/2014/main" id="{2C1EAC53-C2CD-65CE-C372-1F2F495B2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9DFA9DE-A0C5-1A2D-1707-52E650B938EC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REZULTATI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C8674-6584-72BA-D720-712AA783B23A}"/>
              </a:ext>
            </a:extLst>
          </p:cNvPr>
          <p:cNvSpPr txBox="1"/>
          <p:nvPr/>
        </p:nvSpPr>
        <p:spPr>
          <a:xfrm>
            <a:off x="-3" y="31858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HIJERARHIJA FAKTORA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EC390D-F275-CBBE-F220-DE74BFC3CFEF}"/>
              </a:ext>
            </a:extLst>
          </p:cNvPr>
          <p:cNvSpPr txBox="1"/>
          <p:nvPr/>
        </p:nvSpPr>
        <p:spPr>
          <a:xfrm>
            <a:off x="877384" y="3429000"/>
            <a:ext cx="10437226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Najbolji model nad ovom domenom:   DFormer obitelj </a:t>
            </a:r>
          </a:p>
          <a:p>
            <a:pPr algn="ctr"/>
            <a:endParaRPr lang="hr-HR" b="1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DFormer Base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— mIoU 87,67 % · mBF1 96,28 % · 49,73 FPS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AF5BB1-DCEE-EC20-5E24-C00B6E593A89}"/>
              </a:ext>
            </a:extLst>
          </p:cNvPr>
          <p:cNvSpPr txBox="1"/>
          <p:nvPr/>
        </p:nvSpPr>
        <p:spPr>
          <a:xfrm>
            <a:off x="538841" y="1616823"/>
            <a:ext cx="2625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+16,26</a:t>
            </a:r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algn="ctr" font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paradigma prethodnog treniranja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7A81A6-2CDF-6A0C-20EA-ED72BC6484D2}"/>
              </a:ext>
            </a:extLst>
          </p:cNvPr>
          <p:cNvSpPr txBox="1"/>
          <p:nvPr/>
        </p:nvSpPr>
        <p:spPr>
          <a:xfrm>
            <a:off x="4417420" y="1620581"/>
            <a:ext cx="335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+13,57</a:t>
            </a:r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algn="ctr" font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količina podataka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B409F5-B1EB-469E-48D9-67C85003C2FA}"/>
              </a:ext>
            </a:extLst>
          </p:cNvPr>
          <p:cNvSpPr txBox="1"/>
          <p:nvPr/>
        </p:nvSpPr>
        <p:spPr>
          <a:xfrm>
            <a:off x="8421188" y="1616823"/>
            <a:ext cx="335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hr-HR" b="1" dirty="0">
                <a:solidFill>
                  <a:schemeClr val="accent2">
                    <a:lumMod val="50000"/>
                  </a:schemeClr>
                </a:solidFill>
              </a:rPr>
              <a:t>−1,97</a:t>
            </a:r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algn="ctr" font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HHA enkodiranje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6DA66F9-8323-8A65-DDCD-646DAC1FC6D5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16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238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Lab">
            <a:extLst>
              <a:ext uri="{FF2B5EF4-FFF2-40B4-BE49-F238E27FC236}">
                <a16:creationId xmlns:a16="http://schemas.microsoft.com/office/drawing/2014/main" id="{AFBDC7D0-D69A-68DA-43C5-4EBE36B51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9FA34D-2773-F211-7BCE-6C80E32431BB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ZAKLJUČNA RAZMATRANJA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90A3BD-83D5-2BDC-BD60-8A11FAC998ED}"/>
              </a:ext>
            </a:extLst>
          </p:cNvPr>
          <p:cNvSpPr txBox="1"/>
          <p:nvPr/>
        </p:nvSpPr>
        <p:spPr>
          <a:xfrm>
            <a:off x="0" y="32061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OGRANIČENJA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BC0CA1-6B94-8F3C-6783-800C1797F570}"/>
              </a:ext>
            </a:extLst>
          </p:cNvPr>
          <p:cNvSpPr txBox="1"/>
          <p:nvPr/>
        </p:nvSpPr>
        <p:spPr>
          <a:xfrm>
            <a:off x="1981201" y="1273224"/>
            <a:ext cx="3370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77 testnih slika, jedan nasad, zimsko razdoblje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4BA004-9B3E-C170-27D9-15B3F2134836}"/>
              </a:ext>
            </a:extLst>
          </p:cNvPr>
          <p:cNvSpPr txBox="1"/>
          <p:nvPr/>
        </p:nvSpPr>
        <p:spPr>
          <a:xfrm>
            <a:off x="6840583" y="1273224"/>
            <a:ext cx="3135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snimke s već uklonjenim tlom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29189F-F8DB-67C1-33E4-6437F9A44124}"/>
              </a:ext>
            </a:extLst>
          </p:cNvPr>
          <p:cNvSpPr txBox="1"/>
          <p:nvPr/>
        </p:nvSpPr>
        <p:spPr>
          <a:xfrm>
            <a:off x="1208788" y="2726814"/>
            <a:ext cx="1062342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Ograničenja su odluke donesene unutar opsega diplomskog rada, a ne naknadno uočeni propusti.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D0AFF3-E3DE-11C7-1AE3-15867B2ADF2D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17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C77782-020F-12FA-BB36-35F7E16022D4}"/>
              </a:ext>
            </a:extLst>
          </p:cNvPr>
          <p:cNvSpPr txBox="1"/>
          <p:nvPr/>
        </p:nvSpPr>
        <p:spPr>
          <a:xfrm>
            <a:off x="121793" y="4368908"/>
            <a:ext cx="3370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više podataka — najveći povrat uloženog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B8220-1240-F491-3318-BF3E47319FAA}"/>
              </a:ext>
            </a:extLst>
          </p:cNvPr>
          <p:cNvSpPr txBox="1"/>
          <p:nvPr/>
        </p:nvSpPr>
        <p:spPr>
          <a:xfrm>
            <a:off x="2725781" y="5471564"/>
            <a:ext cx="3370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bolji dubinski senzor (veća rezolucija, otporniji na sunčevu svjetlost)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A5146-3979-4FAD-4C9B-CD286E5C6F47}"/>
              </a:ext>
            </a:extLst>
          </p:cNvPr>
          <p:cNvSpPr txBox="1"/>
          <p:nvPr/>
        </p:nvSpPr>
        <p:spPr>
          <a:xfrm>
            <a:off x="6220449" y="4499611"/>
            <a:ext cx="3370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accent2">
                    <a:lumMod val="50000"/>
                  </a:schemeClr>
                </a:solidFill>
              </a:rPr>
              <a:t>predobrada koja izolira jedno stablo iz kadra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BD8D15-D929-6D5D-4D28-6B66F5510A86}"/>
              </a:ext>
            </a:extLst>
          </p:cNvPr>
          <p:cNvSpPr txBox="1"/>
          <p:nvPr/>
        </p:nvSpPr>
        <p:spPr>
          <a:xfrm>
            <a:off x="8408126" y="5587194"/>
            <a:ext cx="3370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accent2">
                    <a:lumMod val="50000"/>
                  </a:schemeClr>
                </a:solidFill>
              </a:rPr>
              <a:t>ciljano prikupljanje scena s potpornim elementima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40BE3-B78D-A931-B73B-503F5B7EB2B5}"/>
              </a:ext>
            </a:extLst>
          </p:cNvPr>
          <p:cNvSpPr txBox="1"/>
          <p:nvPr/>
        </p:nvSpPr>
        <p:spPr>
          <a:xfrm>
            <a:off x="19157" y="335241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POBOLJŠANJA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153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Lab">
            <a:extLst>
              <a:ext uri="{FF2B5EF4-FFF2-40B4-BE49-F238E27FC236}">
                <a16:creationId xmlns:a16="http://schemas.microsoft.com/office/drawing/2014/main" id="{EAA552D7-B55B-6CF7-BDEF-9D53DBCD5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E7F499-D536-F872-F275-B5254C034995}"/>
              </a:ext>
            </a:extLst>
          </p:cNvPr>
          <p:cNvSpPr txBox="1"/>
          <p:nvPr/>
        </p:nvSpPr>
        <p:spPr>
          <a:xfrm>
            <a:off x="-2" y="59009"/>
            <a:ext cx="1219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b="1" dirty="0">
                <a:solidFill>
                  <a:schemeClr val="accent5">
                    <a:lumMod val="50000"/>
                  </a:schemeClr>
                </a:solidFill>
              </a:rPr>
              <a:t>ZAKLJUČNA RAZMATRANJA</a:t>
            </a:r>
            <a:endParaRPr lang="hr-HR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5E6C7-935A-0D19-6BBE-3150C0D1E599}"/>
              </a:ext>
            </a:extLst>
          </p:cNvPr>
          <p:cNvSpPr txBox="1"/>
          <p:nvPr/>
        </p:nvSpPr>
        <p:spPr>
          <a:xfrm>
            <a:off x="-2" y="320619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2000" b="1" dirty="0">
                <a:solidFill>
                  <a:schemeClr val="accent5">
                    <a:lumMod val="50000"/>
                  </a:schemeClr>
                </a:solidFill>
              </a:rPr>
              <a:t>ZAKLJUČAK</a:t>
            </a:r>
            <a:endParaRPr lang="hr-HR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A46E03-47A7-7FD4-604C-8D6E8AB15B39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18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AB837-8E0A-9E40-3DAC-BE5446A96E4D}"/>
              </a:ext>
            </a:extLst>
          </p:cNvPr>
          <p:cNvSpPr txBox="1"/>
          <p:nvPr/>
        </p:nvSpPr>
        <p:spPr>
          <a:xfrm>
            <a:off x="274320" y="898241"/>
            <a:ext cx="9418320" cy="14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000" b="1" dirty="0">
                <a:solidFill>
                  <a:schemeClr val="accent2">
                    <a:lumMod val="50000"/>
                  </a:schemeClr>
                </a:solidFill>
              </a:rPr>
              <a:t>1. Kako integrirati dubinu u mrežu? 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arhitekturno, a ne kao dodatni ulazni kanal      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ESANet nadmašuje ranu fuziju i s istim ImageNet baznim modelom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20B4B-4CF8-B234-F6FD-6382DCC4F814}"/>
              </a:ext>
            </a:extLst>
          </p:cNvPr>
          <p:cNvSpPr txBox="1"/>
          <p:nvPr/>
        </p:nvSpPr>
        <p:spPr>
          <a:xfrm>
            <a:off x="274320" y="2345189"/>
            <a:ext cx="9418320" cy="14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r-HR" sz="2000" b="1" dirty="0">
                <a:solidFill>
                  <a:schemeClr val="accent2">
                    <a:lumMod val="50000"/>
                  </a:schemeClr>
                </a:solidFill>
              </a:rPr>
              <a:t>2. Pomaže li HHA?</a:t>
            </a:r>
          </a:p>
          <a:p>
            <a:pPr>
              <a:lnSpc>
                <a:spcPct val="150000"/>
              </a:lnSpc>
            </a:pPr>
            <a:r>
              <a:rPr lang="hr-HR" sz="20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ne u ovoj domeni      </a:t>
            </a:r>
          </a:p>
          <a:p>
            <a:pPr>
              <a:lnSpc>
                <a:spcPct val="150000"/>
              </a:lnSpc>
            </a:pPr>
            <a:r>
              <a:rPr lang="hr-HR" sz="2000" dirty="0">
                <a:solidFill>
                  <a:schemeClr val="accent2">
                    <a:lumMod val="50000"/>
                  </a:schemeClr>
                </a:solidFill>
              </a:rPr>
              <a:t>geometrijski kontrast na kojem HHA počiva ovdje ne postoji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2BAF45-19CC-4A13-D6CD-1F4F1AE0CFDD}"/>
              </a:ext>
            </a:extLst>
          </p:cNvPr>
          <p:cNvSpPr txBox="1"/>
          <p:nvPr/>
        </p:nvSpPr>
        <p:spPr>
          <a:xfrm>
            <a:off x="274320" y="3792137"/>
            <a:ext cx="9418320" cy="14230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>
                <a:solidFill>
                  <a:schemeClr val="accent2">
                    <a:lumMod val="50000"/>
                  </a:schemeClr>
                </a:solidFill>
              </a:rPr>
              <a:t>3. Koliko donosi RGB-D prethodno treniranje?</a:t>
            </a:r>
          </a:p>
          <a:p>
            <a:pPr>
              <a:lnSpc>
                <a:spcPct val="150000"/>
              </a:lnSpc>
            </a:pP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 najviše od svega, i to ciljano      </a:t>
            </a:r>
          </a:p>
          <a:p>
            <a:pPr>
              <a:lnSpc>
                <a:spcPct val="150000"/>
              </a:lnSpc>
            </a:pPr>
            <a:r>
              <a:rPr lang="pl-PL" sz="2000" dirty="0">
                <a:solidFill>
                  <a:schemeClr val="accent2">
                    <a:lumMod val="50000"/>
                  </a:schemeClr>
                </a:solidFill>
              </a:rPr>
              <a:t>Rješava klasu potpore (42,66 → 92,88 %), ne poboljšava ravnomjerno sve klase</a:t>
            </a:r>
          </a:p>
        </p:txBody>
      </p:sp>
    </p:spTree>
    <p:extLst>
      <p:ext uri="{BB962C8B-B14F-4D97-AF65-F5344CB8AC3E}">
        <p14:creationId xmlns:p14="http://schemas.microsoft.com/office/powerpoint/2010/main" val="3785886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obile Lab">
            <a:extLst>
              <a:ext uri="{FF2B5EF4-FFF2-40B4-BE49-F238E27FC236}">
                <a16:creationId xmlns:a16="http://schemas.microsoft.com/office/drawing/2014/main" id="{38AD95E8-DAA1-4792-FB61-67BE75B33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4686" y="6193144"/>
            <a:ext cx="827314" cy="664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70599D-63F0-DBE6-4A8E-D575A4C01EB8}"/>
              </a:ext>
            </a:extLst>
          </p:cNvPr>
          <p:cNvSpPr txBox="1"/>
          <p:nvPr/>
        </p:nvSpPr>
        <p:spPr>
          <a:xfrm>
            <a:off x="9836980" y="6524098"/>
            <a:ext cx="2355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DF0F65B-05C2-49BC-B38E-60288152FC43}" type="slidenum">
              <a:rPr lang="hr-HR" sz="1600" b="1" smtClean="0">
                <a:solidFill>
                  <a:schemeClr val="accent5">
                    <a:lumMod val="50000"/>
                  </a:schemeClr>
                </a:solidFill>
              </a:rPr>
              <a:t>19</a:t>
            </a:fld>
            <a:endParaRPr lang="hr-H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B6AFE-E48D-0033-577B-CCBC15ED46E2}"/>
              </a:ext>
            </a:extLst>
          </p:cNvPr>
          <p:cNvSpPr txBox="1"/>
          <p:nvPr/>
        </p:nvSpPr>
        <p:spPr>
          <a:xfrm>
            <a:off x="0" y="302359"/>
            <a:ext cx="12192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hr-HR" sz="6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hr-HR" sz="6000" b="1" dirty="0">
                <a:solidFill>
                  <a:schemeClr val="accent5">
                    <a:lumMod val="50000"/>
                  </a:schemeClr>
                </a:solidFill>
              </a:rPr>
              <a:t>HVALA NA POZORNOSTI</a:t>
            </a:r>
          </a:p>
          <a:p>
            <a:pPr algn="ctr"/>
            <a:endParaRPr lang="hr-HR" sz="36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hr-HR" sz="3600" b="1" dirty="0">
                <a:solidFill>
                  <a:schemeClr val="accent5">
                    <a:lumMod val="50000"/>
                  </a:schemeClr>
                </a:solidFill>
              </a:rPr>
              <a:t>PITANJA?</a:t>
            </a:r>
          </a:p>
          <a:p>
            <a:pPr algn="ctr"/>
            <a:endParaRPr lang="hr-HR" sz="60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hr-HR" sz="60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hr-HR" sz="60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hr-HR" sz="6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C25D3F-CE43-C347-3C1D-9A1075F93EE9}"/>
              </a:ext>
            </a:extLst>
          </p:cNvPr>
          <p:cNvSpPr txBox="1"/>
          <p:nvPr/>
        </p:nvSpPr>
        <p:spPr>
          <a:xfrm>
            <a:off x="157403" y="4451445"/>
            <a:ext cx="97840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Dostupni</a:t>
            </a:r>
            <a:r>
              <a:rPr lang="hr-HR" dirty="0"/>
              <a:t> </a:t>
            </a:r>
            <a:r>
              <a:rPr lang="hr-HR" dirty="0">
                <a:solidFill>
                  <a:schemeClr val="accent2">
                    <a:lumMod val="50000"/>
                  </a:schemeClr>
                </a:solidFill>
              </a:rPr>
              <a:t> materijali: </a:t>
            </a:r>
          </a:p>
          <a:p>
            <a:endParaRPr lang="hr-HR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hr-HR" dirty="0">
                <a:hlinkClick r:id="rId3"/>
              </a:rPr>
              <a:t>SKUP PODATAKA</a:t>
            </a:r>
            <a:endParaRPr lang="hr-HR" dirty="0"/>
          </a:p>
          <a:p>
            <a:endParaRPr lang="hr-HR" dirty="0">
              <a:hlinkClick r:id="rId4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hr-HR" dirty="0">
                <a:hlinkClick r:id="rId4"/>
              </a:rPr>
              <a:t>IMPLEMENTACIJA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98377849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546</TotalTime>
  <Words>1662</Words>
  <Application>Microsoft Office PowerPoint</Application>
  <PresentationFormat>Widescreen</PresentationFormat>
  <Paragraphs>372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JasmineUPC</vt:lpstr>
      <vt:lpstr>Raleway</vt:lpstr>
      <vt:lpstr>Sylfaen</vt:lpstr>
      <vt:lpstr>Times New Roman</vt:lpstr>
      <vt:lpstr>Wingdings</vt:lpstr>
      <vt:lpstr>School Days</vt:lpstr>
      <vt:lpstr>Semantička segmentacija grana stabala iz  RGB-D slika primjenom dubokog učenja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ADŽIĆ</dc:creator>
  <cp:lastModifiedBy>SAMUEL ADŽIĆ</cp:lastModifiedBy>
  <cp:revision>185</cp:revision>
  <dcterms:created xsi:type="dcterms:W3CDTF">2026-09-04T12:00:25Z</dcterms:created>
  <dcterms:modified xsi:type="dcterms:W3CDTF">2026-09-21T13:01:36Z</dcterms:modified>
</cp:coreProperties>
</file>