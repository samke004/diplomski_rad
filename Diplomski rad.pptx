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0" r:id="rId3"/>
    <p:sldId id="267" r:id="rId4"/>
    <p:sldId id="257" r:id="rId5"/>
    <p:sldId id="258" r:id="rId6"/>
    <p:sldId id="259" r:id="rId7"/>
    <p:sldId id="260" r:id="rId8"/>
    <p:sldId id="262" r:id="rId9"/>
    <p:sldId id="263" r:id="rId10"/>
    <p:sldId id="264" r:id="rId11"/>
    <p:sldId id="268" r:id="rId12"/>
    <p:sldId id="261" r:id="rId13"/>
    <p:sldId id="271" r:id="rId14"/>
    <p:sldId id="269" r:id="rId15"/>
  </p:sldIdLst>
  <p:sldSz cx="12192000" cy="6858000"/>
  <p:notesSz cx="6858000" cy="9144000"/>
  <p:defaultTextStyle>
    <a:defPPr>
      <a:defRPr lang="sr-Latn-R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78" y="7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722A7-B0B0-1A20-63CA-D643EE59E6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7E21A8-025E-A182-0D02-79768603EE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r-H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E7267C-D383-B812-AE95-913A6DF0F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AB6DD-9378-492B-9900-5A6B4DB33775}" type="datetimeFigureOut">
              <a:rPr lang="hr-HR" smtClean="0"/>
              <a:t>15.1.2026.</a:t>
            </a:fld>
            <a:endParaRPr lang="hr-H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F6AFE4-E1AD-C944-84C5-DA5AB3010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B4D2A5-BB71-2B49-1649-063DE185B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C568A-808D-48C6-B5E9-0A147D3B76C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057495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248F3-1373-A51D-0DD6-A6D769396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6B0866-4088-1735-1A2E-FA9F3892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55E854-EAD4-C99F-1335-951A0FD53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AB6DD-9378-492B-9900-5A6B4DB33775}" type="datetimeFigureOut">
              <a:rPr lang="hr-HR" smtClean="0"/>
              <a:t>15.1.2026.</a:t>
            </a:fld>
            <a:endParaRPr lang="hr-H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8621C3-E511-48EB-A04A-E75C5965A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661846-6399-94E7-3F75-ABB929FDB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C568A-808D-48C6-B5E9-0A147D3B76C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9839896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CD050-011C-2AF9-2184-941E73CBA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97E10A-7FC2-F256-A150-0C3FEF426E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97231B-E988-2802-50F7-1DCC7851B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AB6DD-9378-492B-9900-5A6B4DB33775}" type="datetimeFigureOut">
              <a:rPr lang="hr-HR" smtClean="0"/>
              <a:t>15.1.2026.</a:t>
            </a:fld>
            <a:endParaRPr lang="hr-H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1C77AA-8AC7-2317-7892-3C75B1D14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FD03FA-57A7-505C-90F3-922A96648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C568A-808D-48C6-B5E9-0A147D3B76C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5047699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FEAA6-7E03-4DDD-F23E-1BEA7E377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CD1B3E-0FFC-ACB5-B253-97FDC31DF9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4FE1B0-3BA4-89E3-1BE2-BF94051F26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0FF6ED-83FF-6076-FD07-ED22B18F1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AB6DD-9378-492B-9900-5A6B4DB33775}" type="datetimeFigureOut">
              <a:rPr lang="hr-HR" smtClean="0"/>
              <a:t>15.1.2026.</a:t>
            </a:fld>
            <a:endParaRPr lang="hr-H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AB9936-02B0-9FE8-3B56-4B40C8079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2ED8A9-52F6-A85A-4BAF-D3E8C7E75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C568A-808D-48C6-B5E9-0A147D3B76C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9894258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F4DAF-E818-AACE-1B82-91ADA5C0D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C08313-F7A9-502D-6914-7231DFEAA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F717CB-1DD0-AC9C-210E-9F736F2D38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9BE154-6ED5-DA6E-E217-EC5F1BBC7F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41DA5F-4121-E6F7-FFA6-10C6643265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D83B3A-50B8-0763-4B5B-FD0AC039E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AB6DD-9378-492B-9900-5A6B4DB33775}" type="datetimeFigureOut">
              <a:rPr lang="hr-HR" smtClean="0"/>
              <a:t>15.1.2026.</a:t>
            </a:fld>
            <a:endParaRPr lang="hr-H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5AA730-AFD2-3FDB-E943-C81A193C8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68CF33-9058-1BDD-FE69-04B6181E4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C568A-808D-48C6-B5E9-0A147D3B76C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54075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86435-5F25-8E31-FF33-B4A5A9A26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8B393B-BE92-AD88-6B83-0F30EA830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AB6DD-9378-492B-9900-5A6B4DB33775}" type="datetimeFigureOut">
              <a:rPr lang="hr-HR" smtClean="0"/>
              <a:t>15.1.2026.</a:t>
            </a:fld>
            <a:endParaRPr lang="hr-H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B901CF-0BB3-B7CD-30F1-F621E275D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158E67-5118-7B56-C7C0-4D7E1F2E4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C568A-808D-48C6-B5E9-0A147D3B76C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8500056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2539B0-BBB3-DB8C-0F7F-252387459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AB6DD-9378-492B-9900-5A6B4DB33775}" type="datetimeFigureOut">
              <a:rPr lang="hr-HR" smtClean="0"/>
              <a:t>15.1.2026.</a:t>
            </a:fld>
            <a:endParaRPr lang="hr-H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8FD0DB-6F41-FBE3-FB9C-ED8FD47C6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3136C5-E448-0035-9755-8E4DF3BC5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C568A-808D-48C6-B5E9-0A147D3B76C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9272120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84728-6967-CF57-B54E-F545DAC4A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D83F9-35AD-E1E4-A370-FAF80AE599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A8DC0B-B303-25B6-EB34-90DCF0F681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B9196D-D72E-B439-4A39-8CAE9DB20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AB6DD-9378-492B-9900-5A6B4DB33775}" type="datetimeFigureOut">
              <a:rPr lang="hr-HR" smtClean="0"/>
              <a:t>15.1.2026.</a:t>
            </a:fld>
            <a:endParaRPr lang="hr-H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7818BE-CE73-ABA2-86D0-E18E9FF29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3B3399-D833-712E-2986-A3718B997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C568A-808D-48C6-B5E9-0A147D3B76C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5164527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26284-E446-1B69-EA5A-109A10967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95800F-0893-D06A-145E-FD6399D348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r-H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9711FF-993C-C4F8-6314-FE7ECECF9A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C9B721-16E0-156C-DC16-6F89B8BEC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AB6DD-9378-492B-9900-5A6B4DB33775}" type="datetimeFigureOut">
              <a:rPr lang="hr-HR" smtClean="0"/>
              <a:t>15.1.2026.</a:t>
            </a:fld>
            <a:endParaRPr lang="hr-H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B93CAE-C1EE-9B39-72B2-F3E6A90B4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87DB54-F3BF-E711-E91B-23EBCFE9F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C568A-808D-48C6-B5E9-0A147D3B76C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103500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0B9ED-585B-634A-E2B9-1E1941DDB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FD4428-7A8B-A1E4-6F81-CEE93B84B1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E0C317-69A1-5078-6E0C-647CAF5AB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AB6DD-9378-492B-9900-5A6B4DB33775}" type="datetimeFigureOut">
              <a:rPr lang="hr-HR" smtClean="0"/>
              <a:t>15.1.2026.</a:t>
            </a:fld>
            <a:endParaRPr lang="hr-H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DD3D9B-4EB2-1365-DDE1-FF20509C7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B0E351-32FF-5ACF-B05A-71F987D06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C568A-808D-48C6-B5E9-0A147D3B76C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7245176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2491E3-7364-1827-BD56-FFB5557711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656029-C491-09F3-71E9-66F2DA05B5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C9E4A6-B048-E7FA-A36A-9F0025F3F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AB6DD-9378-492B-9900-5A6B4DB33775}" type="datetimeFigureOut">
              <a:rPr lang="hr-HR" smtClean="0"/>
              <a:t>15.1.2026.</a:t>
            </a:fld>
            <a:endParaRPr lang="hr-H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F9DCBC-5199-A176-563F-11A2D5F91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DC69F4-02C3-5DB7-A629-1C142C840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C568A-808D-48C6-B5E9-0A147D3B76C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0731573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560F89-479B-D984-81B6-3CD8E0C5A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ADBE47-C138-D350-903E-5483E24E5E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F7A7ED-549E-00FB-53CF-D51D5CD86A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FAB6DD-9378-492B-9900-5A6B4DB33775}" type="datetimeFigureOut">
              <a:rPr lang="hr-HR" smtClean="0"/>
              <a:t>15.1.2026.</a:t>
            </a:fld>
            <a:endParaRPr lang="hr-H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729B72-1F59-98B1-86C9-AC62251C8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C88CAA-5D64-9A9E-5BCE-967D7352ED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DC568A-808D-48C6-B5E9-0A147D3B76C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417940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r-Latn-R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ciencedirect.com/science/article/pii/S030324342200085X#:~:text=branches%20are%20estimated,gaussian%20and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49DC7-FBB9-1EC4-8C22-CA97D2083C4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r-HR" b="1" dirty="0">
                <a:latin typeface="+mn-lt"/>
              </a:rPr>
              <a:t>Diplomski rad	</a:t>
            </a:r>
            <a:br>
              <a:rPr lang="hr-HR" b="1" dirty="0">
                <a:latin typeface="+mn-lt"/>
              </a:rPr>
            </a:br>
            <a:endParaRPr lang="hr-HR" b="1" dirty="0">
              <a:latin typeface="+mn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5457C5-3C9F-1659-CE66-107BD65DBE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r-HR" dirty="0"/>
              <a:t>Samuel Adžić</a:t>
            </a:r>
          </a:p>
          <a:p>
            <a:r>
              <a:rPr lang="hr-HR" dirty="0"/>
              <a:t>DRB</a:t>
            </a:r>
          </a:p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9017989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8CA7DC1-E4F3-B8A0-ABC8-169BF9E4F197}"/>
              </a:ext>
            </a:extLst>
          </p:cNvPr>
          <p:cNvSpPr txBox="1"/>
          <p:nvPr/>
        </p:nvSpPr>
        <p:spPr>
          <a:xfrm>
            <a:off x="457200" y="575187"/>
            <a:ext cx="11326761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r-HR" sz="2800" b="1" dirty="0"/>
              <a:t>Segmentacija grana stabala iz RGB-D slika pomoću dubokog učenja</a:t>
            </a:r>
          </a:p>
          <a:p>
            <a:endParaRPr lang="hr-HR" dirty="0"/>
          </a:p>
          <a:p>
            <a:endParaRPr lang="hr-HR" dirty="0"/>
          </a:p>
          <a:p>
            <a:endParaRPr lang="hr-HR" dirty="0"/>
          </a:p>
          <a:p>
            <a:endParaRPr lang="hr-HR" dirty="0"/>
          </a:p>
          <a:p>
            <a:endParaRPr lang="hr-HR" dirty="0"/>
          </a:p>
          <a:p>
            <a:r>
              <a:rPr lang="hr-HR" dirty="0"/>
              <a:t>Primijeniti ili dodatno trenirati postojeću duboku neuronsku mrežu s ciljem segmentacije i detekcije grana stabala, kombiniranjem informacija o dubini i boji. Model treba razlikovati grane od debla te ispravno klasificirati ostale objekte, kao što su potporni stupovi i žice, kao elemente koji nisu grane.</a:t>
            </a:r>
          </a:p>
          <a:p>
            <a:endParaRPr lang="hr-HR" dirty="0"/>
          </a:p>
          <a:p>
            <a:endParaRPr lang="hr-HR" dirty="0"/>
          </a:p>
          <a:p>
            <a:r>
              <a:rPr lang="hr-HR" dirty="0"/>
              <a:t>Studomat:</a:t>
            </a:r>
          </a:p>
          <a:p>
            <a:r>
              <a:rPr lang="hr-HR" dirty="0"/>
              <a:t>Cilj rada je implementirati ili dodatno trenirati postojeću duboku neuronsku mrežu za segmentaciju i detekciju grana koristeći fuziju podataka o boji (RGB) i dubini (D). Ključni zadatak je osposobiti model za precizno razlikovanje grana od debla te za klasifikaciju ostalih objekata, poput potpornih stupova i žica, kao pozadinskog šuma.</a:t>
            </a:r>
            <a:br>
              <a:rPr lang="hr-HR" dirty="0"/>
            </a:b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4346543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504BD-8711-744A-80E8-29F52DC3C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>
                <a:latin typeface="+mn-lt"/>
              </a:rPr>
              <a:t>Poglavlje: Prvo istraživanje</a:t>
            </a:r>
            <a:br>
              <a:rPr lang="hr-HR" dirty="0">
                <a:latin typeface="+mn-lt"/>
              </a:rPr>
            </a:br>
            <a:endParaRPr lang="hr-HR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E3A018-82F2-145F-5629-7FE3538537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/>
              <a:t>Datum pristupa: 14. i 15.01.2026.</a:t>
            </a:r>
          </a:p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0011872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836D9-77D8-1BE3-D8C9-B5F6777D2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hr-HR" sz="1600" dirty="0">
                <a:latin typeface="+mn-lt"/>
                <a:hlinkClick r:id="rId2"/>
              </a:rPr>
              <a:t>https://www.sciencedirect.com/science/article/pii/S030324342200085X#:~:text=branches%20are%20estimated,gaussian%20and</a:t>
            </a:r>
            <a:br>
              <a:rPr lang="hr-HR" sz="1600" dirty="0">
                <a:latin typeface="+mn-lt"/>
              </a:rPr>
            </a:br>
            <a:endParaRPr lang="hr-HR" sz="1600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BF649-E516-B4F4-9329-D81F1439DC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0500"/>
            <a:ext cx="10515600" cy="5032375"/>
          </a:xfrm>
        </p:spPr>
        <p:txBody>
          <a:bodyPr>
            <a:normAutofit fontScale="77500" lnSpcReduction="20000"/>
          </a:bodyPr>
          <a:lstStyle/>
          <a:p>
            <a:r>
              <a:rPr lang="hr-HR" b="1" dirty="0"/>
              <a:t>Silva et al. (2022)</a:t>
            </a:r>
            <a:r>
              <a:rPr lang="hr-HR" dirty="0"/>
              <a:t> – </a:t>
            </a:r>
            <a:r>
              <a:rPr lang="hr-HR" i="1" dirty="0"/>
              <a:t>“Line-based deep learning method for tree branch detection from digital images”</a:t>
            </a:r>
            <a:r>
              <a:rPr lang="hr-HR" dirty="0"/>
              <a:t>, </a:t>
            </a:r>
            <a:r>
              <a:rPr lang="hr-HR" i="1" dirty="0"/>
              <a:t>Int. J. Appl. Earth Obs. Geoinf.</a:t>
            </a:r>
            <a:endParaRPr lang="en-US" i="1" dirty="0"/>
          </a:p>
          <a:p>
            <a:r>
              <a:rPr lang="hr-HR" dirty="0"/>
              <a:t>Autori su izgradili vlastiti skup slika (1.868 internetskih fotografija) koje sadrže stabljike i grane u izazovnim uvjetima. </a:t>
            </a:r>
            <a:endParaRPr lang="en-US" dirty="0"/>
          </a:p>
          <a:p>
            <a:r>
              <a:rPr lang="hr-HR" dirty="0"/>
              <a:t>Predložili su mrežu koja najprije konvolucijskom neuronskom mrežom (CNN) predviđa pravac grane kao pravu liniju, zatim primjenjuju Houghevu transformaciju kako bi dobili precizni položaj linije te potom odabiru piksel s najvećom vjerojatnošću „hvatnog“ mjesta na toj liniji.</a:t>
            </a:r>
            <a:endParaRPr lang="en-US" dirty="0"/>
          </a:p>
          <a:p>
            <a:r>
              <a:rPr lang="hr-HR" dirty="0"/>
              <a:t> Model je postigao F1-mjeru 96,78% i nadmašio prethodne metode temeljene na detekciji linija (DHT, F-Clip). </a:t>
            </a:r>
            <a:endParaRPr lang="en-US" dirty="0"/>
          </a:p>
          <a:p>
            <a:r>
              <a:rPr lang="hr-HR" b="1" dirty="0"/>
              <a:t>Podaci:</a:t>
            </a:r>
            <a:r>
              <a:rPr lang="hr-HR" dirty="0"/>
              <a:t> RGB slike preuzete s interneta (no depth). </a:t>
            </a:r>
            <a:endParaRPr lang="en-US" dirty="0"/>
          </a:p>
          <a:p>
            <a:r>
              <a:rPr lang="hr-HR" b="1" dirty="0"/>
              <a:t>Metoda:</a:t>
            </a:r>
            <a:r>
              <a:rPr lang="hr-HR" dirty="0"/>
              <a:t> CNN za predviđanje linije + Hough transformacija. </a:t>
            </a:r>
            <a:endParaRPr lang="en-US" dirty="0"/>
          </a:p>
          <a:p>
            <a:r>
              <a:rPr lang="hr-HR" b="1" dirty="0"/>
              <a:t>Prednosti:</a:t>
            </a:r>
            <a:r>
              <a:rPr lang="hr-HR" dirty="0"/>
              <a:t> točno određivanje orijentacije grana i mjesta zahvata; jednostavan za treniranje; visok rezultati. </a:t>
            </a:r>
            <a:endParaRPr lang="en-US" dirty="0"/>
          </a:p>
          <a:p>
            <a:r>
              <a:rPr lang="hr-HR" b="1" dirty="0"/>
              <a:t>Nedostaci:</a:t>
            </a:r>
            <a:r>
              <a:rPr lang="hr-HR" dirty="0"/>
              <a:t> pretpostavlja da je svaka grana ravna linija (loše radi s zakrivljenim granama) i ne radi segmentaciju cijele grane, nego samo detekciju linije.</a:t>
            </a:r>
          </a:p>
        </p:txBody>
      </p:sp>
    </p:spTree>
    <p:extLst>
      <p:ext uri="{BB962C8B-B14F-4D97-AF65-F5344CB8AC3E}">
        <p14:creationId xmlns:p14="http://schemas.microsoft.com/office/powerpoint/2010/main" val="7649470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E0908-FFDE-9D05-82B8-04E1ED7D1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r-HR" sz="2000" dirty="0"/>
              <a:t>https://www.arxiv.org/pdf/2512.05418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DAD24A-2571-6D95-D729-A9A648184F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hr-HR" b="1" i="1" dirty="0"/>
              <a:t>Performance Evaluation of Deep Learning for Tree Branch Segmentation in Autonomous Forestry Systems”</a:t>
            </a:r>
            <a:r>
              <a:rPr lang="hr-HR" b="1" dirty="0"/>
              <a:t>, IEEE (arXiv).</a:t>
            </a:r>
            <a:endParaRPr lang="en-US" b="1" dirty="0"/>
          </a:p>
          <a:p>
            <a:r>
              <a:rPr lang="hr-HR" dirty="0"/>
              <a:t> Ovo je opsežna usporedna studija dubokih mreža za semantičku segmentaciju grana. Korišten je </a:t>
            </a:r>
            <a:r>
              <a:rPr lang="hr-HR" i="1" dirty="0"/>
              <a:t>Urban Street Tree Dataset</a:t>
            </a:r>
            <a:r>
              <a:rPr lang="hr-HR" dirty="0"/>
              <a:t> (1.485 RGB slika visoke rezolucije) s označenim granama na razini piksela. Svaki piksel ulazne RGB slike klasificira se kao „prednji plan“ (grana ili deblo) ili pozadina. </a:t>
            </a:r>
            <a:endParaRPr lang="en-US" dirty="0"/>
          </a:p>
          <a:p>
            <a:r>
              <a:rPr lang="hr-HR" dirty="0"/>
              <a:t>Testirane su razne arhitekture (U-Net, DeepLabV3+, PSPNet, Mask2Former itd.) na različitim razlučivostima (256, 512, 1024).</a:t>
            </a:r>
            <a:r>
              <a:rPr lang="hr-HR" b="1" dirty="0"/>
              <a:t> </a:t>
            </a:r>
            <a:endParaRPr lang="en-US" b="1" dirty="0"/>
          </a:p>
          <a:p>
            <a:r>
              <a:rPr lang="hr-HR" b="1" dirty="0"/>
              <a:t>prednosti:</a:t>
            </a:r>
            <a:r>
              <a:rPr lang="hr-HR" dirty="0"/>
              <a:t> iscrpna analiza više modela i rezolucija; korisne metrike za tanke strukture grana. </a:t>
            </a:r>
            <a:endParaRPr lang="en-US" dirty="0"/>
          </a:p>
          <a:p>
            <a:r>
              <a:rPr lang="hr-HR" b="1" dirty="0"/>
              <a:t>Nedostaci:</a:t>
            </a:r>
            <a:r>
              <a:rPr lang="hr-HR" dirty="0"/>
              <a:t> ne koristi dubinske podatke (što može pomoći u razdvajanju pozadine); grane i deblo tretira kao jedan prednji-plan, pa model ne razdvaja deblo i grane.</a:t>
            </a:r>
          </a:p>
          <a:p>
            <a:endParaRPr lang="hr-HR" dirty="0"/>
          </a:p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5778702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7315E-9ABA-0514-6C1D-5B267E8E9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hr-HR" sz="1600" dirty="0"/>
              <a:t>https://www.mdpi.com/2077-0472/13/11/2097#:~:text=These%20observations%20motivated%20this%20study,This%20application%20is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F2EE0-B04B-12B3-80C7-057E7E1EC1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r-HR" b="1" dirty="0"/>
              <a:t>Metoda:</a:t>
            </a:r>
            <a:r>
              <a:rPr lang="hr-HR" dirty="0"/>
              <a:t> duboke mreže za semantičku/instance segmentaciju prilagođene voćnim stablima. </a:t>
            </a:r>
            <a:r>
              <a:rPr lang="en-US" b="1" dirty="0"/>
              <a:t>Deep Learning-Based Segmentation of Intertwined Fruit Trees for Agricultural Tasks</a:t>
            </a:r>
          </a:p>
          <a:p>
            <a:endParaRPr lang="en-US" b="1" dirty="0"/>
          </a:p>
          <a:p>
            <a:r>
              <a:rPr lang="hr-HR" b="1" dirty="0"/>
              <a:t>Prednosti:</a:t>
            </a:r>
            <a:r>
              <a:rPr lang="hr-HR" dirty="0"/>
              <a:t> rješava realni problem „ograničenog voćnjaka“ s isprepletenim granama i dodatnim elementima (žice, stupovi).</a:t>
            </a:r>
            <a:endParaRPr lang="en-US" dirty="0"/>
          </a:p>
          <a:p>
            <a:r>
              <a:rPr lang="hr-HR" dirty="0"/>
              <a:t> </a:t>
            </a:r>
            <a:r>
              <a:rPr lang="hr-HR" b="1" dirty="0"/>
              <a:t>Nedostaci:</a:t>
            </a:r>
            <a:r>
              <a:rPr lang="hr-HR" dirty="0"/>
              <a:t> dio rješenja još koristi pojednostavljene pristupe (npr. thresholding dubine); zahtijeva dobro označen skup podataka i složene modele za zadatak segmentacije.</a:t>
            </a:r>
          </a:p>
        </p:txBody>
      </p:sp>
    </p:spTree>
    <p:extLst>
      <p:ext uri="{BB962C8B-B14F-4D97-AF65-F5344CB8AC3E}">
        <p14:creationId xmlns:p14="http://schemas.microsoft.com/office/powerpoint/2010/main" val="1105212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A2C0C-74B5-5CB2-3DF7-6D47161BF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hr-HR" sz="2000" dirty="0"/>
              <a:t>https://eurekamag.com/research/100/050/100050015.php#:~:text=To%20overcome%20these%20limitations%2C%20we,and%20fused%20representations%2C%20mitigates%20the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AC2C26-6F06-2A45-17ED-9DCD3D822D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1" dirty="0"/>
              <a:t>Yu et al. (2026)</a:t>
            </a:r>
            <a:r>
              <a:rPr lang="en-US" dirty="0"/>
              <a:t> – </a:t>
            </a:r>
            <a:r>
              <a:rPr lang="en-US" i="1" dirty="0"/>
              <a:t>“</a:t>
            </a:r>
            <a:r>
              <a:rPr lang="en-US" b="1" i="1" dirty="0"/>
              <a:t>Dual-branch frequency-domain fusion for RGB-D tree trunks instance segmentation</a:t>
            </a:r>
            <a:r>
              <a:rPr lang="en-US" i="1" dirty="0"/>
              <a:t>”</a:t>
            </a:r>
            <a:r>
              <a:rPr lang="en-US" dirty="0"/>
              <a:t>, </a:t>
            </a:r>
            <a:r>
              <a:rPr lang="en-US" i="1" dirty="0"/>
              <a:t>Computers and Electronics in Agriculture</a:t>
            </a:r>
            <a:endParaRPr lang="hr-HR" i="1" dirty="0"/>
          </a:p>
          <a:p>
            <a:r>
              <a:rPr lang="hr-HR" b="1" dirty="0"/>
              <a:t>Podaci:</a:t>
            </a:r>
            <a:r>
              <a:rPr lang="hr-HR" dirty="0"/>
              <a:t> vlastiti RGB-D skup s točnim maskama debla. </a:t>
            </a:r>
            <a:endParaRPr lang="en-US" dirty="0"/>
          </a:p>
          <a:p>
            <a:r>
              <a:rPr lang="hr-HR" b="1" dirty="0"/>
              <a:t>Metoda:</a:t>
            </a:r>
            <a:r>
              <a:rPr lang="hr-HR" dirty="0"/>
              <a:t> duboka mreža s fuzijom boje i dubine za segmentaciju instanci (ulaz: RGB + dubina, izlaz: maske debla). </a:t>
            </a:r>
            <a:endParaRPr lang="en-US" dirty="0"/>
          </a:p>
          <a:p>
            <a:r>
              <a:rPr lang="hr-HR" b="1" dirty="0"/>
              <a:t>Prednosti:</a:t>
            </a:r>
            <a:r>
              <a:rPr lang="hr-HR" dirty="0"/>
              <a:t> koristi dubinu da poboljša detekciju i segmentaciju stabala ispod krošnje (otpornija na loše osvjetljenje i dijelomične prepreke), radi u stvarnom vremenu (~45 fps). </a:t>
            </a:r>
            <a:endParaRPr lang="en-US" dirty="0"/>
          </a:p>
          <a:p>
            <a:r>
              <a:rPr lang="hr-HR" b="1" dirty="0"/>
              <a:t>Nedostaci:</a:t>
            </a:r>
            <a:r>
              <a:rPr lang="hr-HR" dirty="0"/>
              <a:t> fokusira se samo na debla (grane nisu zasebne klase); arhitektura je složenija zbog dodatnih modula i transformatora.</a:t>
            </a:r>
            <a:endParaRPr lang="hr-HR" i="1" dirty="0"/>
          </a:p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0007864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7CECA-F905-A25E-6646-E11135ED4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hr-HR" sz="2000" dirty="0"/>
              <a:t>https://www.researchgate.net/publication/327612851_Apple_Tree_Trunk_and_Branch_Segmentation_for_Automatic_Trellis_Training_Using_Convolutional_Neural_Network_Based_Semantic_Segmentation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C8565A4-79F7-0B19-CA61-94E68582880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44424" y="1619160"/>
            <a:ext cx="1024896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sr-Latn-R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sr-Latn-RS" sz="1800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sr-Latn-R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Apple Tree Trunk and Branch Segmentation for Automatic Trellis Training Using Convolutional Neural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sr-Latn-R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Network Based Semantic Segmentation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sr-Latn-R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sr-Latn-RS" sz="1800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sr-Latn-RS" altLang="sr-Latn-R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Prednost:</a:t>
            </a:r>
            <a:r>
              <a:rPr kumimoji="0" lang="sr-Latn-RS" altLang="sr-Latn-R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Jedan od rijetkih radova koji eksplicitno trenira klasu "žica" (trellis wire) odvojeno od grana.</a:t>
            </a:r>
            <a:endParaRPr kumimoji="0" lang="en-US" altLang="sr-Latn-R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sr-Latn-RS" altLang="sr-Latn-R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sr-Latn-RS" altLang="sr-Latn-R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Nedostatak:</a:t>
            </a:r>
            <a:r>
              <a:rPr kumimoji="0" lang="sr-Latn-RS" altLang="sr-Latn-R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Oslanjaju se na jednostavan prag dubine (thresholding) za uklanjanje pozadine, </a:t>
            </a:r>
            <a:endParaRPr kumimoji="0" lang="en-US" altLang="sr-Latn-R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sr-Latn-RS" altLang="sr-Latn-R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što nije robusno ako je pozadina blizu (npr. drugi red stabala). SegNet je danas zastarjela i spora arhitektura.</a:t>
            </a:r>
          </a:p>
        </p:txBody>
      </p:sp>
    </p:spTree>
    <p:extLst>
      <p:ext uri="{BB962C8B-B14F-4D97-AF65-F5344CB8AC3E}">
        <p14:creationId xmlns:p14="http://schemas.microsoft.com/office/powerpoint/2010/main" val="3536439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1918A-F8C3-6033-A69A-3BE056C42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hr-HR" sz="2400" dirty="0"/>
              <a:t>https://openaccess.thecvf.com/content/CVPR2025W/V4A/papers/Wang_A_Dataset_for_Semantic_and_Instance_Segmentation_of_Modern_Fruit_CVPRW_2025_paper.pdf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26DD356-8650-6D27-5415-050E5F3A74F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154635"/>
            <a:ext cx="9738756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800" b="1" dirty="0"/>
              <a:t>A Dataset for Semantic and Instance Segmentation of Modern Fruit Orchards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sr-Latn-R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sr-Latn-RS" altLang="sr-Latn-R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Podatkovni skup:</a:t>
            </a:r>
            <a:r>
              <a:rPr kumimoji="0" lang="sr-Latn-RS" altLang="sr-Latn-R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Hibridni – Stvarni (Real) i Sintetički (Synthetic).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sr-Latn-RS" altLang="sr-Latn-R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Metoda: Ulaz:</a:t>
            </a:r>
            <a:r>
              <a:rPr kumimoji="0" lang="sr-Latn-RS" altLang="sr-Latn-R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RGB-D video sekvence.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sr-Latn-RS" altLang="sr-Latn-R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Model:</a:t>
            </a:r>
            <a:r>
              <a:rPr kumimoji="0" lang="sr-Latn-RS" altLang="sr-Latn-R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Koriste </a:t>
            </a:r>
            <a:r>
              <a:rPr kumimoji="0" lang="sr-Latn-RS" altLang="sr-Latn-R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Mask2Former</a:t>
            </a:r>
            <a:r>
              <a:rPr kumimoji="0" lang="sr-Latn-RS" altLang="sr-Latn-R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 </a:t>
            </a:r>
            <a:r>
              <a:rPr kumimoji="0" lang="sr-Latn-RS" altLang="sr-Latn-R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SAM (Segment Anything Model)</a:t>
            </a:r>
            <a:r>
              <a:rPr kumimoji="0" lang="sr-Latn-RS" altLang="sr-Latn-R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za propagaciju oznaka kroz video.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sr-Latn-RS" altLang="sr-Latn-R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Predlažu metodu "Semantically-Guided Depth Refinement" (SGDR).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sr-Latn-RS" altLang="sr-Latn-R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Izlaz:</a:t>
            </a:r>
            <a:r>
              <a:rPr kumimoji="0" lang="sr-Latn-RS" altLang="sr-Latn-R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Instancijska segmentacija (razlikuje svaku pojedinu granu).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sr-Latn-RS" altLang="sr-Latn-R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sr-Latn-RS" altLang="sr-Latn-R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Prednosti i nedostaci:</a:t>
            </a:r>
            <a:endParaRPr kumimoji="0" lang="sr-Latn-RS" altLang="sr-Latn-R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sr-Latn-RS" altLang="sr-Latn-R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Prednost:</a:t>
            </a:r>
            <a:r>
              <a:rPr kumimoji="0" lang="sr-Latn-RS" altLang="sr-Latn-R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Najmoderniji i najveći dostupni skup podataka. Koristi sintetičke podatke za pred-treniranje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sr-Latn-RS" altLang="sr-Latn-R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(pre-training) što drastično diže točnost na stvarnim podacima. Rješava problem nedostatka podataka.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sr-Latn-RS" altLang="sr-Latn-R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Nedostatak:</a:t>
            </a:r>
            <a:r>
              <a:rPr kumimoji="0" lang="sr-Latn-RS" altLang="sr-Latn-R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Metoda je računalno vrlo zahtjevna (teško izvedivo u realnom vremenu bez optimizacije).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sr-Latn-RS" altLang="sr-Latn-R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2827695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B008D-238D-ECAA-572D-E0D066EFE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r-HR" sz="2400" dirty="0">
                <a:latin typeface="+mn-lt"/>
              </a:rPr>
              <a:t>https://www.sciencedirect.com/science/article/pii/S0168169923002727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A68358B-E9D9-1C91-AB94-E8285C9D849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00639"/>
            <a:ext cx="10722422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sr-Latn-R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Obscured tree branches segmentation and 3D reconstruction using deep learning and geometrical constraints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sr-Latn-RS" altLang="sr-Latn-R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sr-Latn-RS" altLang="sr-Latn-R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Podatkovni skup: Tip:</a:t>
            </a:r>
            <a:r>
              <a:rPr kumimoji="0" lang="sr-Latn-RS" altLang="sr-Latn-R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Stvarni podaci.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sr-Latn-RS" altLang="sr-Latn-R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Prikupljanje:</a:t>
            </a:r>
            <a:r>
              <a:rPr kumimoji="0" lang="sr-Latn-RS" altLang="sr-Latn-R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Fokus na stablama s gustom krošnjom gdje se grane preklapaju.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sr-Latn-RS" altLang="sr-Latn-R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Metoda:</a:t>
            </a:r>
            <a:endParaRPr kumimoji="0" lang="sr-Latn-RS" altLang="sr-Latn-R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sr-Latn-RS" altLang="sr-Latn-R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Ulaz:</a:t>
            </a:r>
            <a:r>
              <a:rPr kumimoji="0" lang="sr-Latn-RS" altLang="sr-Latn-R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RGB-D slike.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sr-Latn-RS" altLang="sr-Latn-R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Model:</a:t>
            </a:r>
            <a:r>
              <a:rPr kumimoji="0" lang="sr-Latn-RS" altLang="sr-Latn-R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Usporedba </a:t>
            </a:r>
            <a:r>
              <a:rPr kumimoji="0" lang="sr-Latn-RS" altLang="sr-Latn-R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U-Net</a:t>
            </a:r>
            <a:r>
              <a:rPr kumimoji="0" lang="sr-Latn-RS" altLang="sr-Latn-R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sr-Latn-RS" altLang="sr-Latn-R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DeepLabV3+</a:t>
            </a:r>
            <a:r>
              <a:rPr kumimoji="0" lang="sr-Latn-RS" altLang="sr-Latn-R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 </a:t>
            </a:r>
            <a:r>
              <a:rPr kumimoji="0" lang="sr-Latn-RS" altLang="sr-Latn-R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Pix2Pix</a:t>
            </a:r>
            <a:r>
              <a:rPr kumimoji="0" lang="sr-Latn-RS" altLang="sr-Latn-R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mreža.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sr-Latn-RS" altLang="sr-Latn-R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Post-obrada:</a:t>
            </a:r>
            <a:r>
              <a:rPr kumimoji="0" lang="sr-Latn-RS" altLang="sr-Latn-R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Koriste geometrijska ograničenja (geometrical constraints) za povezivanje prekinutih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sr-Latn-RS" altLang="sr-Latn-R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segmenata grana u 3D prostoru.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sr-Latn-RS" altLang="sr-Latn-R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Izlaz:</a:t>
            </a:r>
            <a:r>
              <a:rPr kumimoji="0" lang="sr-Latn-RS" altLang="sr-Latn-R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Segmentirana maska + 3D skelet grana.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sr-Latn-RS" altLang="sr-Latn-R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sr-Latn-RS" altLang="sr-Latn-R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Prednosti i nedostaci:</a:t>
            </a:r>
            <a:endParaRPr kumimoji="0" lang="sr-Latn-RS" altLang="sr-Latn-R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sr-Latn-RS" altLang="sr-Latn-R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Prednost:</a:t>
            </a:r>
            <a:r>
              <a:rPr kumimoji="0" lang="sr-Latn-RS" altLang="sr-Latn-R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Uvodi "Occlusion Difficulty Index" – metriku za mjerenje koliko je grana skrivena.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sr-Latn-RS" altLang="sr-Latn-R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Pix2Pix se pokazao najboljim za jako zaklonjene grane.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sr-Latn-RS" altLang="sr-Latn-R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Nedostatak:</a:t>
            </a:r>
            <a:r>
              <a:rPr kumimoji="0" lang="sr-Latn-RS" altLang="sr-Latn-R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3D rekonstrukcija je spora i ovisi o kvaliteti dubinske kamere koja često zakaže na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sr-Latn-RS" altLang="sr-Latn-R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tankim vrhovima grana.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sr-Latn-RS" altLang="sr-Latn-R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8998009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5DCF7-6DC6-29D0-52C8-C1BF44044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Efficient RGB-D Semantic Segmentation for Indoor Scene Analysis (ESANet)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BE7E272-E2B5-CE2A-9E3C-B1132A5EEED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416310"/>
            <a:ext cx="10798277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sr-Latn-RS" altLang="sr-Latn-R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Metoda:</a:t>
            </a:r>
            <a:endParaRPr kumimoji="0" lang="sr-Latn-RS" altLang="sr-Latn-R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sr-Latn-RS" altLang="sr-Latn-R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Ulaz:</a:t>
            </a:r>
            <a:r>
              <a:rPr kumimoji="0" lang="sr-Latn-RS" altLang="sr-Latn-R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RGB (3 kanala) + Dubina (1 kanal).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sr-Latn-RS" altLang="sr-Latn-R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Model:</a:t>
            </a:r>
            <a:r>
              <a:rPr kumimoji="0" lang="sr-Latn-RS" altLang="sr-Latn-R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sr-Latn-RS" altLang="sr-Latn-R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ESANet</a:t>
            </a:r>
            <a:r>
              <a:rPr kumimoji="0" lang="sr-Latn-RS" altLang="sr-Latn-R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(ResNet backbone). Ključna inovacija je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sr-Latn-RS" altLang="sr-Latn-R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sr-Latn-RS" altLang="sr-Latn-R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modul za fuziju sa Squeeze-and-Excitation (SE)</a:t>
            </a:r>
            <a:r>
              <a:rPr kumimoji="0" lang="sr-Latn-RS" altLang="sr-Latn-R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blokovima koji uče koliko vjerovati RGB-u,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sr-Latn-RS" altLang="sr-Latn-R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 koliko Dubini na svakom pikselu.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sr-Latn-RS" altLang="sr-Latn-R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sr-Latn-RS" altLang="sr-Latn-R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Izlaz:</a:t>
            </a:r>
            <a:r>
              <a:rPr kumimoji="0" lang="sr-Latn-RS" altLang="sr-Latn-R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Semantička segmentacija u &gt;25 FPS (sličica u sekundi).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sr-Latn-RS" altLang="sr-Latn-R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Prednosti i nedostaci:</a:t>
            </a:r>
            <a:endParaRPr kumimoji="0" lang="sr-Latn-RS" altLang="sr-Latn-R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sr-Latn-RS" altLang="sr-Latn-R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Prednost:</a:t>
            </a:r>
            <a:r>
              <a:rPr kumimoji="0" lang="sr-Latn-RS" altLang="sr-Latn-R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Dizajnirano specifično za </a:t>
            </a:r>
            <a:r>
              <a:rPr kumimoji="0" lang="sr-Latn-RS" altLang="sr-Latn-R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NVIDIA Jetson</a:t>
            </a:r>
            <a:r>
              <a:rPr kumimoji="0" lang="sr-Latn-RS" altLang="sr-Latn-R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(čipove koje koriste roboti).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sr-Latn-RS" altLang="sr-Latn-R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Najbolji omjer brzine i točnosti. Robustan na šum u dubinskoj slici (npr. na rubovima grana).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sr-Latn-RS" altLang="sr-Latn-R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Nedostatak:</a:t>
            </a:r>
            <a:r>
              <a:rPr kumimoji="0" lang="sr-Latn-RS" altLang="sr-Latn-R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Model treba ponovno trenirati na datasetu (transfer learning) jer je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sr-Latn-RS" altLang="sr-Latn-R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originalno treniran na sobnim scenama.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sr-Latn-RS" altLang="sr-Latn-R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4468559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DBD8F-48F7-6C20-8161-D6A18AA4F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r-HR" sz="2000" dirty="0">
                <a:latin typeface="+mn-lt"/>
              </a:rPr>
              <a:t>https://www.sciencedirect.com/science/article/pii/S0034425724003936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3ACB93-3BA4-BE36-DE6F-2DA7F3DD76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hr-HR" b="1" dirty="0"/>
              <a:t>Odabir arhitekture: Prilagođeni ESANet</a:t>
            </a:r>
          </a:p>
          <a:p>
            <a:r>
              <a:rPr lang="hr-HR" dirty="0"/>
              <a:t>Preporučuje se implementacija ili fino podešavanje </a:t>
            </a:r>
            <a:r>
              <a:rPr lang="hr-HR" b="1" dirty="0"/>
              <a:t>ESANet</a:t>
            </a:r>
            <a:r>
              <a:rPr lang="hr-HR" dirty="0"/>
              <a:t> arhitekture (bazirane na ResNet-34 backbone-u).</a:t>
            </a:r>
          </a:p>
          <a:p>
            <a:r>
              <a:rPr lang="hr-HR" b="1" dirty="0"/>
              <a:t>Ulaz:</a:t>
            </a:r>
            <a:r>
              <a:rPr lang="hr-HR" dirty="0"/>
              <a:t> Dva toka – RGB (3 kanala) i Dubina (1 kanal, HHA kodiranje ili normalizirana dubina).</a:t>
            </a:r>
          </a:p>
          <a:p>
            <a:r>
              <a:rPr lang="hr-HR" b="1" dirty="0"/>
              <a:t>Modifikacija:</a:t>
            </a:r>
            <a:r>
              <a:rPr lang="hr-HR" dirty="0"/>
              <a:t> Zadnji sloj (head) treba imati broj izlaza jednak broju klasa: 4 (Pozadina, Deblo, Grana, Žica/Stup).</a:t>
            </a:r>
          </a:p>
          <a:p>
            <a:r>
              <a:rPr lang="hr-HR" b="1" dirty="0"/>
              <a:t>Zašto ESANet?</a:t>
            </a:r>
            <a:r>
              <a:rPr lang="hr-HR" dirty="0"/>
              <a:t> Nudi najbolji balans između preciznosti fuzije (zahvaljujući SE modulima) i brzine izvođenja, što je ključno ako se sustav planira implementirati na robotu u stvarnom vremenu. Alternativno, za maksimalnu preciznost u offline analizi, može se koristiti </a:t>
            </a:r>
            <a:r>
              <a:rPr lang="hr-HR" b="1" dirty="0"/>
              <a:t>DeepLabV3+</a:t>
            </a:r>
            <a:r>
              <a:rPr lang="hr-HR" dirty="0"/>
              <a:t> s dvostrukim koderom.</a:t>
            </a:r>
          </a:p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848990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01D95-58CA-2D40-63CE-EB04745CC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r-HR" sz="2000" dirty="0">
                <a:latin typeface="+mn-lt"/>
              </a:rPr>
              <a:t>https://github.com/VCIP-RGBD/DFormer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430DB-337C-115A-9885-4C6399A5E1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/>
              <a:t>DFormer &amp; DFormerv2: Nova generacija RGB-D segmentacije</a:t>
            </a:r>
          </a:p>
          <a:p>
            <a:r>
              <a:rPr lang="hr-HR" dirty="0"/>
              <a:t>Treba malo jači hardver</a:t>
            </a:r>
          </a:p>
          <a:p>
            <a:r>
              <a:rPr lang="hr-HR" dirty="0"/>
              <a:t>Prihvaćen je na CVPR2025 </a:t>
            </a:r>
          </a:p>
          <a:p>
            <a:endParaRPr lang="hr-HR" dirty="0"/>
          </a:p>
          <a:p>
            <a:r>
              <a:rPr lang="hr-HR" dirty="0"/>
              <a:t>POTREBNO JOŠ PROUČITI!!!</a:t>
            </a:r>
          </a:p>
        </p:txBody>
      </p:sp>
    </p:spTree>
    <p:extLst>
      <p:ext uri="{BB962C8B-B14F-4D97-AF65-F5344CB8AC3E}">
        <p14:creationId xmlns:p14="http://schemas.microsoft.com/office/powerpoint/2010/main" val="38187971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2BB74C9-564F-02D3-DB19-009F1064566D}"/>
              </a:ext>
            </a:extLst>
          </p:cNvPr>
          <p:cNvSpPr txBox="1"/>
          <p:nvPr/>
        </p:nvSpPr>
        <p:spPr>
          <a:xfrm>
            <a:off x="309716" y="309716"/>
            <a:ext cx="11459497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dirty="0"/>
              <a:t>Zaključak poglavlja: Prvo istraživanje</a:t>
            </a:r>
          </a:p>
          <a:p>
            <a:endParaRPr lang="hr-HR" dirty="0"/>
          </a:p>
          <a:p>
            <a:r>
              <a:rPr lang="hr-HR" dirty="0"/>
              <a:t>Analiza dosadašnjih radova pokazuje da je segmentacija grana stabala izrazito zahtjevan problem, osobito u realnim uvjetima voćnjaka.</a:t>
            </a:r>
          </a:p>
          <a:p>
            <a:br>
              <a:rPr lang="hr-HR" dirty="0"/>
            </a:br>
            <a:r>
              <a:rPr lang="hr-HR" dirty="0"/>
              <a:t>Najveći potencijal po meni imaju ESA i Dformer i Dformerv2. Ostali ili su zastarjeli ili nemaju dovoljo prednosti, naspram svojih nedostataka. Doduše iz rada o jabukama mi se sviđa definicija probelma, odnosno razdovjene klase i kako su definirane u učenju i to ću iskoristiti.</a:t>
            </a:r>
          </a:p>
          <a:p>
            <a:r>
              <a:rPr lang="hr-HR" dirty="0"/>
              <a:t>Prije istraživanja imao sam ideju o rješenju putem transformera.</a:t>
            </a:r>
          </a:p>
          <a:p>
            <a:r>
              <a:rPr lang="hr-HR" dirty="0"/>
              <a:t>Mas2Former ima potencijal, ali nemam hardver za njeg.</a:t>
            </a:r>
          </a:p>
          <a:p>
            <a:endParaRPr lang="hr-HR" dirty="0"/>
          </a:p>
          <a:p>
            <a:endParaRPr lang="hr-HR" dirty="0"/>
          </a:p>
          <a:p>
            <a:r>
              <a:rPr lang="hr-HR" dirty="0"/>
              <a:t>Sljedeći koraci:</a:t>
            </a:r>
          </a:p>
          <a:p>
            <a:r>
              <a:rPr lang="hr-HR" dirty="0"/>
              <a:t>Detaljno proučiti Dataset!!!(pogledano i malo prouceno, ali potrebno vidjeti formate maski i sl)</a:t>
            </a:r>
          </a:p>
          <a:p>
            <a:r>
              <a:rPr lang="hr-HR" dirty="0"/>
              <a:t>Istražiti dalje potencijal DFormer / DFormerv2 i ESA. </a:t>
            </a:r>
          </a:p>
          <a:p>
            <a:endParaRPr lang="hr-HR" dirty="0"/>
          </a:p>
          <a:p>
            <a:r>
              <a:rPr lang="hr-HR" dirty="0"/>
              <a:t>Ukoliko metode zakažu i ne pokažu se dovoljno dobrim ubaciti i iskoristiti neke „starije” i klasičnije metode: SLAJD 10, kao post-processing koraku na izlaz iz DFormera.(GAN KOJI CRTA ONO STO FALI)!</a:t>
            </a:r>
          </a:p>
          <a:p>
            <a:endParaRPr lang="hr-HR" dirty="0"/>
          </a:p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7489569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1622</Words>
  <Application>Microsoft Office PowerPoint</Application>
  <PresentationFormat>Widescreen</PresentationFormat>
  <Paragraphs>121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Diplomski rad  </vt:lpstr>
      <vt:lpstr>PowerPoint Presentation</vt:lpstr>
      <vt:lpstr>Poglavlje: Prvo istraživanje </vt:lpstr>
      <vt:lpstr>https://www.sciencedirect.com/science/article/pii/S030324342200085X#:~:text=branches%20are%20estimated,gaussian%20and </vt:lpstr>
      <vt:lpstr>https://www.arxiv.org/pdf/2512.05418</vt:lpstr>
      <vt:lpstr>https://www.mdpi.com/2077-0472/13/11/2097#:~:text=These%20observations%20motivated%20this%20study,This%20application%20is</vt:lpstr>
      <vt:lpstr>https://eurekamag.com/research/100/050/100050015.php#:~:text=To%20overcome%20these%20limitations%2C%20we,and%20fused%20representations%2C%20mitigates%20the</vt:lpstr>
      <vt:lpstr>https://www.researchgate.net/publication/327612851_Apple_Tree_Trunk_and_Branch_Segmentation_for_Automatic_Trellis_Training_Using_Convolutional_Neural_Network_Based_Semantic_Segmentation</vt:lpstr>
      <vt:lpstr>https://openaccess.thecvf.com/content/CVPR2025W/V4A/papers/Wang_A_Dataset_for_Semantic_and_Instance_Segmentation_of_Modern_Fruit_CVPRW_2025_paper.pdf</vt:lpstr>
      <vt:lpstr>https://www.sciencedirect.com/science/article/pii/S0168169923002727</vt:lpstr>
      <vt:lpstr>Efficient RGB-D Semantic Segmentation for Indoor Scene Analysis (ESANet)</vt:lpstr>
      <vt:lpstr>https://www.sciencedirect.com/science/article/pii/S0034425724003936</vt:lpstr>
      <vt:lpstr>https://github.com/VCIP-RGBD/DFormer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SAMUEL ADŽIĆ</dc:creator>
  <cp:lastModifiedBy>SAMUEL ADŽIĆ</cp:lastModifiedBy>
  <cp:revision>82</cp:revision>
  <dcterms:created xsi:type="dcterms:W3CDTF">2026-01-15T12:09:38Z</dcterms:created>
  <dcterms:modified xsi:type="dcterms:W3CDTF">2026-01-15T19:28:55Z</dcterms:modified>
</cp:coreProperties>
</file>